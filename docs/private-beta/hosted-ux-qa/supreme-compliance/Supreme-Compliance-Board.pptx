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Compliance Board Summary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Elite Claims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Readiness is not certification.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Readiness and coverage are not certification, attestation, or a claim that this organization is compliant. Not applicable is not pass. Evidence presence is not pass. An attestati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Enterprise compliance posture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2 active framework programs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4 open gaps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0 overdue attestation campaigns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7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0 expired exceptions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Framework readiness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ISO/IEC 27001 2022-ref: 100% requirement coverage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NYDFS cybersecurity requirements 500-ref: 100% requirement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Gaps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GAP-00004 A.15 has no current CLEAN evidence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GAP-00003 A.15 is mapped to controls that are not implemented</a:t>
            </a:r>
          </a:p>
        </p:txBody>
      </p:sp>
      <p:sp>
        <p:nvSpPr>
          <p:cNvPr id="5" name="t3"/>
          <p:cNvSpPr txBox="1"/>
          <p:nvPr/>
        </p:nvSpPr>
        <p:spPr>
          <a:xfrm>
            <a:off x="457200" y="224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GAP-00002 500.07 has no current CLEAN evidence</a:t>
            </a:r>
          </a:p>
        </p:txBody>
      </p:sp>
      <p:sp>
        <p:nvSpPr>
          <p:cNvPr id="6" name="t4"/>
          <p:cNvSpPr txBox="1"/>
          <p:nvPr/>
        </p:nvSpPr>
        <p:spPr>
          <a:xfrm>
            <a:off x="457200" y="272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GAP-00001 500.07 is mapped to controls that are not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Exceptions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EXC-00002 Temporary remote-admin path for hosted walkthrough — Approved</a:t>
            </a:r>
          </a:p>
        </p:txBody>
      </p:sp>
      <p:sp>
        <p:nvSpPr>
          <p:cNvPr id="4" name="t2"/>
          <p:cNvSpPr txBox="1"/>
          <p:nvPr/>
        </p:nvSpPr>
        <p:spPr>
          <a:xfrm>
            <a:off x="457200" y="176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EXC-00001 Temporary remote-admin path for hosted walkthrough — Approved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457200" y="80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2800" b="1" dirty="0">
                <a:solidFill>
                  <a:srgbClr val="0F172A"/>
                </a:solidFill>
              </a:rPr>
              <a:t>Key attention items</a:t>
            </a:r>
          </a:p>
        </p:txBody>
      </p:sp>
      <p:sp>
        <p:nvSpPr>
          <p:cNvPr id="3" name="t1"/>
          <p:cNvSpPr txBox="1"/>
          <p:nvPr/>
        </p:nvSpPr>
        <p:spPr>
          <a:xfrm>
            <a:off x="457200" y="1280000"/>
            <a:ext cx="8229600" cy="457200"/>
          </a:xfrm>
          <a:prstGeom prst="rect">
            <a:avLst/>
          </a:prstGeom>
        </p:spPr>
        <p:txBody>
          <a:bodyPr/>
          <a:lstStyle/>
          <a:p>
            <a:r>
              <a:rPr lang="en-US" sz="1600" b="0" dirty="0">
                <a:solidFill>
                  <a:srgbClr val="1E293B"/>
                </a:solidFill>
              </a:rPr>
              <a:t>• No attention items from live records.</a:t>
            </a:r>
          </a:p>
        </p:txBody>
      </p:sp>
    </p:spTree>
  </p:cSld>
  <p:clrMapOvr>
    <a:masterClrMapping/>
  </p:clrMapOvr>
</p:sld>
</file>