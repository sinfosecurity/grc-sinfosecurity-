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k0"/>
          <p:cNvSpPr txBox="1"/>
          <p:nvPr/>
        </p:nvSpPr>
        <p:spPr>
          <a:xfrm>
            <a:off x="4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2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Active programs</a:t>
            </a:r>
          </a:p>
        </p:txBody>
      </p:sp>
      <p:sp>
        <p:nvSpPr>
          <p:cNvPr id="21" name="k1"/>
          <p:cNvSpPr txBox="1"/>
          <p:nvPr/>
        </p:nvSpPr>
        <p:spPr>
          <a:xfrm>
            <a:off x="25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4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Open gaps</a:t>
            </a:r>
          </a:p>
        </p:txBody>
      </p:sp>
      <p:sp>
        <p:nvSpPr>
          <p:cNvPr id="22" name="k2"/>
          <p:cNvSpPr txBox="1"/>
          <p:nvPr/>
        </p:nvSpPr>
        <p:spPr>
          <a:xfrm>
            <a:off x="46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1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Overdue attestations</a:t>
            </a:r>
          </a:p>
        </p:txBody>
      </p:sp>
      <p:sp>
        <p:nvSpPr>
          <p:cNvPr id="23" name="k3"/>
          <p:cNvSpPr txBox="1"/>
          <p:nvPr/>
        </p:nvSpPr>
        <p:spPr>
          <a:xfrm>
            <a:off x="67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0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Expired exceptions</a:t>
            </a:r>
          </a:p>
        </p:txBody>
      </p:sp>
      <p:sp>
        <p:nvSpPr>
          <p:cNvPr id="2" name="t0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Compliance Board Summary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Elite Claims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Readiness is not certification.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41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Live tenant records only.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45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Readiness and coverage are not certification, attestation, or a claim that this organization is compliant. Not applicable is not pass. Evidence presence is not pass. An attestation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k0"/>
          <p:cNvSpPr txBox="1"/>
          <p:nvPr/>
        </p:nvSpPr>
        <p:spPr>
          <a:xfrm>
            <a:off x="4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Not calculated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Mapped</a:t>
            </a:r>
          </a:p>
        </p:txBody>
      </p:sp>
      <p:sp>
        <p:nvSpPr>
          <p:cNvPr id="21" name="k1"/>
          <p:cNvSpPr txBox="1"/>
          <p:nvPr/>
        </p:nvSpPr>
        <p:spPr>
          <a:xfrm>
            <a:off x="25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Not calculated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Implemented</a:t>
            </a:r>
          </a:p>
        </p:txBody>
      </p:sp>
      <p:sp>
        <p:nvSpPr>
          <p:cNvPr id="22" name="k2"/>
          <p:cNvSpPr txBox="1"/>
          <p:nvPr/>
        </p:nvSpPr>
        <p:spPr>
          <a:xfrm>
            <a:off x="46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No implemented map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Tested</a:t>
            </a:r>
          </a:p>
        </p:txBody>
      </p:sp>
      <p:sp>
        <p:nvSpPr>
          <p:cNvPr id="23" name="k3"/>
          <p:cNvSpPr txBox="1"/>
          <p:nvPr/>
        </p:nvSpPr>
        <p:spPr>
          <a:xfrm>
            <a:off x="67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Not calculated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Evidence</a:t>
            </a:r>
          </a:p>
        </p:txBody>
      </p:sp>
      <p:sp>
        <p:nvSpPr>
          <p:cNvPr id="2" name="t0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Coverage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ISO/IEC 27001 2022-ref: mapped Not calculated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NYDFS cybersecurity requirements 500-ref: mapped 100%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k0"/>
          <p:cNvSpPr txBox="1"/>
          <p:nvPr/>
        </p:nvSpPr>
        <p:spPr>
          <a:xfrm>
            <a:off x="4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Not calculated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Evidence coverage</a:t>
            </a:r>
          </a:p>
        </p:txBody>
      </p:sp>
      <p:sp>
        <p:nvSpPr>
          <p:cNvPr id="21" name="k1"/>
          <p:cNvSpPr txBox="1"/>
          <p:nvPr/>
        </p:nvSpPr>
        <p:spPr>
          <a:xfrm>
            <a:off x="25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4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Open gaps</a:t>
            </a:r>
          </a:p>
        </p:txBody>
      </p:sp>
      <p:sp>
        <p:nvSpPr>
          <p:cNvPr id="22" name="k2"/>
          <p:cNvSpPr txBox="1"/>
          <p:nvPr/>
        </p:nvSpPr>
        <p:spPr>
          <a:xfrm>
            <a:off x="46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0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Expired exceptions</a:t>
            </a:r>
          </a:p>
        </p:txBody>
      </p:sp>
      <p:sp>
        <p:nvSpPr>
          <p:cNvPr id="23" name="k3"/>
          <p:cNvSpPr txBox="1"/>
          <p:nvPr/>
        </p:nvSpPr>
        <p:spPr>
          <a:xfrm>
            <a:off x="67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2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Active programs</a:t>
            </a:r>
          </a:p>
        </p:txBody>
      </p:sp>
      <p:sp>
        <p:nvSpPr>
          <p:cNvPr id="2" name="t0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Evidence health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CLEAN current supporting links only count toward evidence coverage.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A file is not compliance.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41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Malware policy remains fail-closed.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k0"/>
          <p:cNvSpPr txBox="1"/>
          <p:nvPr/>
        </p:nvSpPr>
        <p:spPr>
          <a:xfrm>
            <a:off x="4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No implemented map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Testing coverage</a:t>
            </a:r>
          </a:p>
        </p:txBody>
      </p:sp>
      <p:sp>
        <p:nvSpPr>
          <p:cNvPr id="21" name="k1"/>
          <p:cNvSpPr txBox="1"/>
          <p:nvPr/>
        </p:nvSpPr>
        <p:spPr>
          <a:xfrm>
            <a:off x="25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Not calculated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Implemented</a:t>
            </a:r>
          </a:p>
        </p:txBody>
      </p:sp>
      <p:sp>
        <p:nvSpPr>
          <p:cNvPr id="22" name="k2"/>
          <p:cNvSpPr txBox="1"/>
          <p:nvPr/>
        </p:nvSpPr>
        <p:spPr>
          <a:xfrm>
            <a:off x="46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Not calculated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Mapped</a:t>
            </a:r>
          </a:p>
        </p:txBody>
      </p:sp>
      <p:sp>
        <p:nvSpPr>
          <p:cNvPr id="23" name="k3"/>
          <p:cNvSpPr txBox="1"/>
          <p:nvPr/>
        </p:nvSpPr>
        <p:spPr>
          <a:xfrm>
            <a:off x="67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1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Overdue</a:t>
            </a:r>
          </a:p>
        </p:txBody>
      </p:sp>
      <p:sp>
        <p:nvSpPr>
          <p:cNvPr id="2" name="t0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Testing status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Testing coverage No implemented mapped controls to test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No implemented mapped controls to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k0"/>
          <p:cNvSpPr txBox="1"/>
          <p:nvPr/>
        </p:nvSpPr>
        <p:spPr>
          <a:xfrm>
            <a:off x="4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4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Open gaps</a:t>
            </a:r>
          </a:p>
        </p:txBody>
      </p:sp>
      <p:sp>
        <p:nvSpPr>
          <p:cNvPr id="21" name="k1"/>
          <p:cNvSpPr txBox="1"/>
          <p:nvPr/>
        </p:nvSpPr>
        <p:spPr>
          <a:xfrm>
            <a:off x="25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2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Attention items</a:t>
            </a:r>
          </a:p>
        </p:txBody>
      </p:sp>
      <p:sp>
        <p:nvSpPr>
          <p:cNvPr id="2" name="t0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Major gaps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GAP-00004 A.15 has no current CLEAN evidence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GAP-00003 A.15 is mapped to controls that are not implemented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41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GAP-00002 500.07 has no current CLEAN evidence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45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GAP-00001 500.07 is mapped to controls that are not implemented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Exceptions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EXC-00003 Temporary remote-admin path for hosted walkthrough — Approved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EXC-00002 Temporary remote-admin path for hosted walkthrough — Approved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EXC-00001 Temporary remote-admin path for hosted walkthrough — Approved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Needs attention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Overdue attestations: Hosted Q4 control attestation passed its due date without closing.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Overdue attestations: An assigned attestor has not closed this campaign before the due date.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Decisions / next actions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Review CAM-00003 — Overdue attestations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Review CAM-00003 — Overdue attestations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An attestation is not a control test. Residual risk does not change unless Supreme Risk recalculates it.</a:t>
            </a:r>
          </a:p>
        </p:txBody>
      </p:sp>
    </p:spTree>
  </p:cSld>
  <p:clrMapOvr>
    <a:masterClrMapping/>
  </p:clrMapOvr>
</p:sld>
</file>