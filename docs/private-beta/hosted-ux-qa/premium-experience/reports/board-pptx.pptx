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0"/>
          <p:cNvSpPr txBox="1"/>
          <p:nvPr/>
        </p:nvSpPr>
        <p:spPr>
          <a:xfrm>
            <a:off x="457200" y="80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2800" b="1" dirty="0">
                <a:solidFill>
                  <a:srgbClr val="0F172A"/>
                </a:solidFill>
              </a:rPr>
              <a:t>Executive Summary</a:t>
            </a:r>
          </a:p>
        </p:txBody>
      </p:sp>
      <p:sp>
        <p:nvSpPr>
          <p:cNvPr id="3" name="t1"/>
          <p:cNvSpPr txBox="1"/>
          <p:nvPr/>
        </p:nvSpPr>
        <p:spPr>
          <a:xfrm>
            <a:off x="457200" y="122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Elite Claims: 14 vendors, 1 high residual risk.</a:t>
            </a:r>
          </a:p>
        </p:txBody>
      </p:sp>
      <p:sp>
        <p:nvSpPr>
          <p:cNvPr id="4" name="t2"/>
          <p:cNvSpPr txBox="1"/>
          <p:nvPr/>
        </p:nvSpPr>
        <p:spPr>
          <a:xfrm>
            <a:off x="457200" y="164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1 vendor currently sits in high or critical residual risk.</a:t>
            </a:r>
          </a:p>
        </p:txBody>
      </p:sp>
      <p:sp>
        <p:nvSpPr>
          <p:cNvPr id="5" name="t3"/>
          <p:cNvSpPr txBox="1"/>
          <p:nvPr/>
        </p:nvSpPr>
        <p:spPr>
          <a:xfrm>
            <a:off x="457200" y="206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26 critical or high findings remain open.</a:t>
            </a:r>
          </a:p>
        </p:txBody>
      </p:sp>
      <p:sp>
        <p:nvSpPr>
          <p:cNvPr id="6" name="t4"/>
          <p:cNvSpPr txBox="1"/>
          <p:nvPr/>
        </p:nvSpPr>
        <p:spPr>
          <a:xfrm>
            <a:off x="457200" y="248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1 remediation item is past the target date.</a:t>
            </a:r>
          </a:p>
        </p:txBody>
      </p:sp>
      <p:sp>
        <p:nvSpPr>
          <p:cNvPr id="7" name="t5"/>
          <p:cNvSpPr txBox="1"/>
          <p:nvPr/>
        </p:nvSpPr>
        <p:spPr>
          <a:xfrm>
            <a:off x="457200" y="290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Supreme Governance Platform · Confidential — Board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0"/>
          <p:cNvSpPr txBox="1"/>
          <p:nvPr/>
        </p:nvSpPr>
        <p:spPr>
          <a:xfrm>
            <a:off x="457200" y="80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2800" b="1" dirty="0">
                <a:solidFill>
                  <a:srgbClr val="0F172A"/>
                </a:solidFill>
              </a:rPr>
              <a:t>Portfolio Risk</a:t>
            </a:r>
          </a:p>
        </p:txBody>
      </p:sp>
      <p:sp>
        <p:nvSpPr>
          <p:cNvPr id="3" name="t1"/>
          <p:cNvSpPr txBox="1"/>
          <p:nvPr/>
        </p:nvSpPr>
        <p:spPr>
          <a:xfrm>
            <a:off x="457200" y="122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Critical vendors: 2</a:t>
            </a:r>
          </a:p>
        </p:txBody>
      </p:sp>
      <p:sp>
        <p:nvSpPr>
          <p:cNvPr id="4" name="t2"/>
          <p:cNvSpPr txBox="1"/>
          <p:nvPr/>
        </p:nvSpPr>
        <p:spPr>
          <a:xfrm>
            <a:off x="457200" y="164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Overdue assessments: 11</a:t>
            </a:r>
          </a:p>
        </p:txBody>
      </p:sp>
      <p:sp>
        <p:nvSpPr>
          <p:cNvPr id="5" name="t3"/>
          <p:cNvSpPr txBox="1"/>
          <p:nvPr/>
        </p:nvSpPr>
        <p:spPr>
          <a:xfrm>
            <a:off x="457200" y="206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Critical findings: 26</a:t>
            </a:r>
          </a:p>
        </p:txBody>
      </p:sp>
      <p:sp>
        <p:nvSpPr>
          <p:cNvPr id="6" name="t4"/>
          <p:cNvSpPr txBox="1"/>
          <p:nvPr/>
        </p:nvSpPr>
        <p:spPr>
          <a:xfrm>
            <a:off x="457200" y="248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Overdue remediation: 1</a:t>
            </a:r>
          </a:p>
        </p:txBody>
      </p:sp>
      <p:sp>
        <p:nvSpPr>
          <p:cNvPr id="7" name="t5"/>
          <p:cNvSpPr txBox="1"/>
          <p:nvPr/>
        </p:nvSpPr>
        <p:spPr>
          <a:xfrm>
            <a:off x="457200" y="290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Supreme Governance Platform · Confidential — Board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0"/>
          <p:cNvSpPr txBox="1"/>
          <p:nvPr/>
        </p:nvSpPr>
        <p:spPr>
          <a:xfrm>
            <a:off x="457200" y="80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2800" b="1" dirty="0">
                <a:solidFill>
                  <a:srgbClr val="0F172A"/>
                </a:solidFill>
              </a:rPr>
              <a:t>Risk Heatmap</a:t>
            </a:r>
          </a:p>
        </p:txBody>
      </p:sp>
      <p:sp>
        <p:nvSpPr>
          <p:cNvPr id="3" name="t1"/>
          <p:cNvSpPr txBox="1"/>
          <p:nvPr/>
        </p:nvSpPr>
        <p:spPr>
          <a:xfrm>
            <a:off x="457200" y="122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See the Board PDF for the 5x5 heatmap. Slide form lists residual bands only.</a:t>
            </a:r>
          </a:p>
        </p:txBody>
      </p:sp>
      <p:sp>
        <p:nvSpPr>
          <p:cNvPr id="4" name="t2"/>
          <p:cNvSpPr txBox="1"/>
          <p:nvPr/>
        </p:nvSpPr>
        <p:spPr>
          <a:xfrm>
            <a:off x="457200" y="164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Critical 80–100: 0</a:t>
            </a:r>
          </a:p>
        </p:txBody>
      </p:sp>
      <p:sp>
        <p:nvSpPr>
          <p:cNvPr id="5" name="t3"/>
          <p:cNvSpPr txBox="1"/>
          <p:nvPr/>
        </p:nvSpPr>
        <p:spPr>
          <a:xfrm>
            <a:off x="457200" y="206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High 60–79: 1</a:t>
            </a:r>
          </a:p>
        </p:txBody>
      </p:sp>
      <p:sp>
        <p:nvSpPr>
          <p:cNvPr id="6" name="t4"/>
          <p:cNvSpPr txBox="1"/>
          <p:nvPr/>
        </p:nvSpPr>
        <p:spPr>
          <a:xfrm>
            <a:off x="457200" y="248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Medium 40–59: 3</a:t>
            </a:r>
          </a:p>
        </p:txBody>
      </p:sp>
      <p:sp>
        <p:nvSpPr>
          <p:cNvPr id="7" name="t5"/>
          <p:cNvSpPr txBox="1"/>
          <p:nvPr/>
        </p:nvSpPr>
        <p:spPr>
          <a:xfrm>
            <a:off x="457200" y="290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Low 0–39: 10</a:t>
            </a:r>
          </a:p>
        </p:txBody>
      </p:sp>
      <p:sp>
        <p:nvSpPr>
          <p:cNvPr id="8" name="t6"/>
          <p:cNvSpPr txBox="1"/>
          <p:nvPr/>
        </p:nvSpPr>
        <p:spPr>
          <a:xfrm>
            <a:off x="457200" y="332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Supreme Governance Platform · Confidential — Board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0"/>
          <p:cNvSpPr txBox="1"/>
          <p:nvPr/>
        </p:nvSpPr>
        <p:spPr>
          <a:xfrm>
            <a:off x="457200" y="80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2800" b="1" dirty="0">
                <a:solidFill>
                  <a:srgbClr val="0F172A"/>
                </a:solidFill>
              </a:rPr>
              <a:t>Top Risk Vendors</a:t>
            </a:r>
          </a:p>
        </p:txBody>
      </p:sp>
      <p:sp>
        <p:nvSpPr>
          <p:cNvPr id="3" name="t1"/>
          <p:cNvSpPr txBox="1"/>
          <p:nvPr/>
        </p:nvSpPr>
        <p:spPr>
          <a:xfrm>
            <a:off x="457200" y="122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Suprew: residual 74</a:t>
            </a:r>
          </a:p>
        </p:txBody>
      </p:sp>
      <p:sp>
        <p:nvSpPr>
          <p:cNvPr id="4" name="t2"/>
          <p:cNvSpPr txBox="1"/>
          <p:nvPr/>
        </p:nvSpPr>
        <p:spPr>
          <a:xfrm>
            <a:off x="457200" y="164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Phase C golden 1789361629: residual 58</a:t>
            </a:r>
          </a:p>
        </p:txBody>
      </p:sp>
      <p:sp>
        <p:nvSpPr>
          <p:cNvPr id="5" name="t3"/>
          <p:cNvSpPr txBox="1"/>
          <p:nvPr/>
        </p:nvSpPr>
        <p:spPr>
          <a:xfrm>
            <a:off x="457200" y="206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Phase C golden 1789360695: residual 58</a:t>
            </a:r>
          </a:p>
        </p:txBody>
      </p:sp>
      <p:sp>
        <p:nvSpPr>
          <p:cNvPr id="6" name="t4"/>
          <p:cNvSpPr txBox="1"/>
          <p:nvPr/>
        </p:nvSpPr>
        <p:spPr>
          <a:xfrm>
            <a:off x="457200" y="248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Microsoft In: residual 40</a:t>
            </a:r>
          </a:p>
        </p:txBody>
      </p:sp>
      <p:sp>
        <p:nvSpPr>
          <p:cNvPr id="7" name="t5"/>
          <p:cNvSpPr txBox="1"/>
          <p:nvPr/>
        </p:nvSpPr>
        <p:spPr>
          <a:xfrm>
            <a:off x="457200" y="290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Phase C cross 1789361629: residual 31</a:t>
            </a:r>
          </a:p>
        </p:txBody>
      </p:sp>
      <p:sp>
        <p:nvSpPr>
          <p:cNvPr id="8" name="t6"/>
          <p:cNvSpPr txBox="1"/>
          <p:nvPr/>
        </p:nvSpPr>
        <p:spPr>
          <a:xfrm>
            <a:off x="457200" y="332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Phase A Payroll 1789351850: residual 31</a:t>
            </a:r>
          </a:p>
        </p:txBody>
      </p:sp>
      <p:sp>
        <p:nvSpPr>
          <p:cNvPr id="9" name="t7"/>
          <p:cNvSpPr txBox="1"/>
          <p:nvPr/>
        </p:nvSpPr>
        <p:spPr>
          <a:xfrm>
            <a:off x="457200" y="374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Phase C cross 1789360695: residual 31</a:t>
            </a:r>
          </a:p>
        </p:txBody>
      </p:sp>
      <p:sp>
        <p:nvSpPr>
          <p:cNvPr id="10" name="t8"/>
          <p:cNvSpPr txBox="1"/>
          <p:nvPr/>
        </p:nvSpPr>
        <p:spPr>
          <a:xfrm>
            <a:off x="457200" y="416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Phase C reject 1789361629: residual 31</a:t>
            </a:r>
          </a:p>
        </p:txBody>
      </p:sp>
      <p:sp>
        <p:nvSpPr>
          <p:cNvPr id="11" name="t9"/>
          <p:cNvSpPr txBox="1"/>
          <p:nvPr/>
        </p:nvSpPr>
        <p:spPr>
          <a:xfrm>
            <a:off x="457200" y="458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Supreme Governance Platform · Confidential — Board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0"/>
          <p:cNvSpPr txBox="1"/>
          <p:nvPr/>
        </p:nvSpPr>
        <p:spPr>
          <a:xfrm>
            <a:off x="457200" y="80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2800" b="1" dirty="0">
                <a:solidFill>
                  <a:srgbClr val="0F172A"/>
                </a:solidFill>
              </a:rPr>
              <a:t>Risk Trend</a:t>
            </a:r>
          </a:p>
        </p:txBody>
      </p:sp>
      <p:sp>
        <p:nvSpPr>
          <p:cNvPr id="3" name="t1"/>
          <p:cNvSpPr txBox="1"/>
          <p:nvPr/>
        </p:nvSpPr>
        <p:spPr>
          <a:xfrm>
            <a:off x="457200" y="122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2026-09: 34</a:t>
            </a:r>
          </a:p>
        </p:txBody>
      </p:sp>
      <p:sp>
        <p:nvSpPr>
          <p:cNvPr id="4" name="t2"/>
          <p:cNvSpPr txBox="1"/>
          <p:nvPr/>
        </p:nvSpPr>
        <p:spPr>
          <a:xfrm>
            <a:off x="457200" y="164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Supreme Governance Platform · Confidential — Board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0"/>
          <p:cNvSpPr txBox="1"/>
          <p:nvPr/>
        </p:nvSpPr>
        <p:spPr>
          <a:xfrm>
            <a:off x="457200" y="80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2800" b="1" dirty="0">
                <a:solidFill>
                  <a:srgbClr val="0F172A"/>
                </a:solidFill>
              </a:rPr>
              <a:t>Critical Findings</a:t>
            </a:r>
          </a:p>
        </p:txBody>
      </p:sp>
      <p:sp>
        <p:nvSpPr>
          <p:cNvPr id="3" name="t1"/>
          <p:cNvSpPr txBox="1"/>
          <p:nvPr/>
        </p:nvSpPr>
        <p:spPr>
          <a:xfrm>
            <a:off x="457200" y="122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Phase B Portal 1789355266: Response needs review: Are incidents reviewed after resolution?</a:t>
            </a:r>
          </a:p>
        </p:txBody>
      </p:sp>
      <p:sp>
        <p:nvSpPr>
          <p:cNvPr id="4" name="t2"/>
          <p:cNvSpPr txBox="1"/>
          <p:nvPr/>
        </p:nvSpPr>
        <p:spPr>
          <a:xfrm>
            <a:off x="457200" y="164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Phase B Portal 1789355266: Response needs review: What is the committed customer-notification time after confirmed material incident?</a:t>
            </a:r>
          </a:p>
        </p:txBody>
      </p:sp>
      <p:sp>
        <p:nvSpPr>
          <p:cNvPr id="5" name="t3"/>
          <p:cNvSpPr txBox="1"/>
          <p:nvPr/>
        </p:nvSpPr>
        <p:spPr>
          <a:xfrm>
            <a:off x="457200" y="206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Phase B Portal 1789355266: Response needs review: Is a 24x7 contact path available for security incidents?</a:t>
            </a:r>
          </a:p>
        </p:txBody>
      </p:sp>
      <p:sp>
        <p:nvSpPr>
          <p:cNvPr id="6" name="t4"/>
          <p:cNvSpPr txBox="1"/>
          <p:nvPr/>
        </p:nvSpPr>
        <p:spPr>
          <a:xfrm>
            <a:off x="457200" y="248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Phase B Portal 1789355266: Response needs review: Is there a documented incident-response plan for this service?</a:t>
            </a:r>
          </a:p>
        </p:txBody>
      </p:sp>
      <p:sp>
        <p:nvSpPr>
          <p:cNvPr id="7" name="t5"/>
          <p:cNvSpPr txBox="1"/>
          <p:nvPr/>
        </p:nvSpPr>
        <p:spPr>
          <a:xfrm>
            <a:off x="457200" y="290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Phase B Portal 1789355266: Response needs review: Does the vendor host customer data in a cloud or SaaS environment?</a:t>
            </a:r>
          </a:p>
        </p:txBody>
      </p:sp>
      <p:sp>
        <p:nvSpPr>
          <p:cNvPr id="8" name="t6"/>
          <p:cNvSpPr txBox="1"/>
          <p:nvPr/>
        </p:nvSpPr>
        <p:spPr>
          <a:xfrm>
            <a:off x="457200" y="332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Phase B Portal 1789355266: Evidence still required: Are tenant isolation controls documented?</a:t>
            </a:r>
          </a:p>
        </p:txBody>
      </p:sp>
      <p:sp>
        <p:nvSpPr>
          <p:cNvPr id="9" name="t7"/>
          <p:cNvSpPr txBox="1"/>
          <p:nvPr/>
        </p:nvSpPr>
        <p:spPr>
          <a:xfrm>
            <a:off x="457200" y="374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Phase B Portal 1789355266: Evidence still required: Is a current subprocessor list available?</a:t>
            </a:r>
          </a:p>
        </p:txBody>
      </p:sp>
      <p:sp>
        <p:nvSpPr>
          <p:cNvPr id="10" name="t8"/>
          <p:cNvSpPr txBox="1"/>
          <p:nvPr/>
        </p:nvSpPr>
        <p:spPr>
          <a:xfrm>
            <a:off x="457200" y="416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Phase B Portal 1789355266: Response needs review: Does the vendor use subcontractors or subprocessors for this service?</a:t>
            </a:r>
          </a:p>
        </p:txBody>
      </p:sp>
      <p:sp>
        <p:nvSpPr>
          <p:cNvPr id="11" name="t9"/>
          <p:cNvSpPr txBox="1"/>
          <p:nvPr/>
        </p:nvSpPr>
        <p:spPr>
          <a:xfrm>
            <a:off x="457200" y="458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Supreme Governance Platform · Confidential — Board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0"/>
          <p:cNvSpPr txBox="1"/>
          <p:nvPr/>
        </p:nvSpPr>
        <p:spPr>
          <a:xfrm>
            <a:off x="457200" y="80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2800" b="1" dirty="0">
                <a:solidFill>
                  <a:srgbClr val="0F172A"/>
                </a:solidFill>
              </a:rPr>
              <a:t>Overdue Remediation</a:t>
            </a:r>
          </a:p>
        </p:txBody>
      </p:sp>
      <p:sp>
        <p:nvSpPr>
          <p:cNvPr id="3" name="t1"/>
          <p:cNvSpPr txBox="1"/>
          <p:nvPr/>
        </p:nvSpPr>
        <p:spPr>
          <a:xfrm>
            <a:off x="457200" y="122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Supreme Investigation: Private-beta MFA evidence gap</a:t>
            </a:r>
          </a:p>
        </p:txBody>
      </p:sp>
      <p:sp>
        <p:nvSpPr>
          <p:cNvPr id="4" name="t2"/>
          <p:cNvSpPr txBox="1"/>
          <p:nvPr/>
        </p:nvSpPr>
        <p:spPr>
          <a:xfrm>
            <a:off x="457200" y="164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Supreme Governance Platform · Confidential — Board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0"/>
          <p:cNvSpPr txBox="1"/>
          <p:nvPr/>
        </p:nvSpPr>
        <p:spPr>
          <a:xfrm>
            <a:off x="457200" y="80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2800" b="1" dirty="0">
                <a:solidFill>
                  <a:srgbClr val="0F172A"/>
                </a:solidFill>
              </a:rPr>
              <a:t>Monitoring Changes</a:t>
            </a:r>
          </a:p>
        </p:txBody>
      </p:sp>
      <p:sp>
        <p:nvSpPr>
          <p:cNvPr id="3" name="t1"/>
          <p:cNvSpPr txBox="1"/>
          <p:nvPr/>
        </p:nvSpPr>
        <p:spPr>
          <a:xfrm>
            <a:off x="457200" y="122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External monitoring not configured</a:t>
            </a:r>
          </a:p>
        </p:txBody>
      </p:sp>
      <p:sp>
        <p:nvSpPr>
          <p:cNvPr id="4" name="t2"/>
          <p:cNvSpPr txBox="1"/>
          <p:nvPr/>
        </p:nvSpPr>
        <p:spPr>
          <a:xfrm>
            <a:off x="457200" y="164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Signals 0</a:t>
            </a:r>
          </a:p>
        </p:txBody>
      </p:sp>
      <p:sp>
        <p:nvSpPr>
          <p:cNvPr id="5" name="t3"/>
          <p:cNvSpPr txBox="1"/>
          <p:nvPr/>
        </p:nvSpPr>
        <p:spPr>
          <a:xfrm>
            <a:off x="457200" y="206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Supreme Governance Platform · Confidential — Board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0"/>
          <p:cNvSpPr txBox="1"/>
          <p:nvPr/>
        </p:nvSpPr>
        <p:spPr>
          <a:xfrm>
            <a:off x="457200" y="80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2800" b="1" dirty="0">
                <a:solidFill>
                  <a:srgbClr val="0F172A"/>
                </a:solidFill>
              </a:rPr>
              <a:t>Major Decisions</a:t>
            </a:r>
          </a:p>
        </p:txBody>
      </p:sp>
      <p:sp>
        <p:nvSpPr>
          <p:cNvPr id="3" name="t1"/>
          <p:cNvSpPr txBox="1"/>
          <p:nvPr/>
        </p:nvSpPr>
        <p:spPr>
          <a:xfrm>
            <a:off x="457200" y="122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Reject residual 31</a:t>
            </a:r>
          </a:p>
        </p:txBody>
      </p:sp>
      <p:sp>
        <p:nvSpPr>
          <p:cNvPr id="4" name="t2"/>
          <p:cNvSpPr txBox="1"/>
          <p:nvPr/>
        </p:nvSpPr>
        <p:spPr>
          <a:xfrm>
            <a:off x="457200" y="164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Approve With Conditions residual 58</a:t>
            </a:r>
          </a:p>
        </p:txBody>
      </p:sp>
      <p:sp>
        <p:nvSpPr>
          <p:cNvPr id="5" name="t3"/>
          <p:cNvSpPr txBox="1"/>
          <p:nvPr/>
        </p:nvSpPr>
        <p:spPr>
          <a:xfrm>
            <a:off x="457200" y="206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Risk Accepted residual 58</a:t>
            </a:r>
          </a:p>
        </p:txBody>
      </p:sp>
      <p:sp>
        <p:nvSpPr>
          <p:cNvPr id="6" name="t4"/>
          <p:cNvSpPr txBox="1"/>
          <p:nvPr/>
        </p:nvSpPr>
        <p:spPr>
          <a:xfrm>
            <a:off x="457200" y="248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Approve With Conditions residual 58</a:t>
            </a:r>
          </a:p>
        </p:txBody>
      </p:sp>
      <p:sp>
        <p:nvSpPr>
          <p:cNvPr id="7" name="t5"/>
          <p:cNvSpPr txBox="1"/>
          <p:nvPr/>
        </p:nvSpPr>
        <p:spPr>
          <a:xfrm>
            <a:off x="457200" y="290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Risk Accepted residual 58</a:t>
            </a:r>
          </a:p>
        </p:txBody>
      </p:sp>
      <p:sp>
        <p:nvSpPr>
          <p:cNvPr id="8" name="t6"/>
          <p:cNvSpPr txBox="1"/>
          <p:nvPr/>
        </p:nvSpPr>
        <p:spPr>
          <a:xfrm>
            <a:off x="457200" y="332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Supreme Governance Platform · Confidential — Board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0"/>
          <p:cNvSpPr txBox="1"/>
          <p:nvPr/>
        </p:nvSpPr>
        <p:spPr>
          <a:xfrm>
            <a:off x="457200" y="80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2800" b="1" dirty="0">
                <a:solidFill>
                  <a:srgbClr val="0F172A"/>
                </a:solidFill>
              </a:rPr>
              <a:t>Recommendations</a:t>
            </a:r>
          </a:p>
        </p:txBody>
      </p:sp>
      <p:sp>
        <p:nvSpPr>
          <p:cNvPr id="3" name="t1"/>
          <p:cNvSpPr txBox="1"/>
          <p:nvPr/>
        </p:nvSpPr>
        <p:spPr>
          <a:xfrm>
            <a:off x="457200" y="122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Complete 11 overdue vendor assessment(s).</a:t>
            </a:r>
          </a:p>
        </p:txBody>
      </p:sp>
      <p:sp>
        <p:nvSpPr>
          <p:cNvPr id="4" name="t2"/>
          <p:cNvSpPr txBox="1"/>
          <p:nvPr/>
        </p:nvSpPr>
        <p:spPr>
          <a:xfrm>
            <a:off x="457200" y="164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Remediate or formally accept 26 critical/high finding(s).</a:t>
            </a:r>
          </a:p>
        </p:txBody>
      </p:sp>
      <p:sp>
        <p:nvSpPr>
          <p:cNvPr id="5" name="t3"/>
          <p:cNvSpPr txBox="1"/>
          <p:nvPr/>
        </p:nvSpPr>
        <p:spPr>
          <a:xfrm>
            <a:off x="457200" y="206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Escalate 1 overdue remediation item(s).</a:t>
            </a:r>
          </a:p>
        </p:txBody>
      </p:sp>
      <p:sp>
        <p:nvSpPr>
          <p:cNvPr id="6" name="t4"/>
          <p:cNvSpPr txBox="1"/>
          <p:nvPr/>
        </p:nvSpPr>
        <p:spPr>
          <a:xfrm>
            <a:off x="457200" y="248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Review decision briefs for 1 vendor(s) with HIGH or CRITICAL residual risk.</a:t>
            </a:r>
          </a:p>
        </p:txBody>
      </p:sp>
      <p:sp>
        <p:nvSpPr>
          <p:cNvPr id="7" name="t5"/>
          <p:cNvSpPr txBox="1"/>
          <p:nvPr/>
        </p:nvSpPr>
        <p:spPr>
          <a:xfrm>
            <a:off x="457200" y="290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Supreme Governance Platform · Confidential — Board</a:t>
            </a:r>
          </a:p>
        </p:txBody>
      </p:sp>
    </p:spTree>
  </p:cSld>
  <p:clrMapOvr>
    <a:masterClrMapping/>
  </p:clrMapOvr>
</p:sld>
</file>