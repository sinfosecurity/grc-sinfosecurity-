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Executive Summary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Elite Claims: 13 vendors, 1 high residual risk.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1 vendor currently sit in high or critical residual risk.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26 critical or high findings remain open.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1 remediation item are past the target date.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Portfolio Risk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Critical vendors: 2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Overdue assessments: 11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Critical findings: 26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Overdue remediation: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Risk Heatmap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See the Board PDF for the 5x5 heatmap. Slide form lists residual bands only.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Critical 80–100: 0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High 60–79: 1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Medium 40–59: 3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Low 0–39: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Top Risk Vendors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Suprew: residual 74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C golden 1789361629: residual 58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C golden 1789360695: residual 58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Microsoft In: residual 40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C cross 1789361629: residual 31</a:t>
            </a:r>
          </a:p>
        </p:txBody>
      </p:sp>
      <p:sp>
        <p:nvSpPr>
          <p:cNvPr id="8" name="t6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A Payroll 1789351850: residual 31</a:t>
            </a:r>
          </a:p>
        </p:txBody>
      </p:sp>
      <p:sp>
        <p:nvSpPr>
          <p:cNvPr id="9" name="t7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C reject 1789361629: residual 31</a:t>
            </a:r>
          </a:p>
        </p:txBody>
      </p:sp>
      <p:sp>
        <p:nvSpPr>
          <p:cNvPr id="10" name="t8"/>
          <p:cNvSpPr txBox="1"/>
          <p:nvPr/>
        </p:nvSpPr>
        <p:spPr>
          <a:xfrm>
            <a:off x="457200" y="41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residual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Risk Trend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2026-09: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Critical Findings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Are incidents reviewed after resolution?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What is the committed customer-notification time after confirmed material incident?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Is a 24x7 contact path available for security incidents?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Is there a documented incident-response plan for this service?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Does the vendor host customer data in a cloud or SaaS environment?</a:t>
            </a:r>
          </a:p>
        </p:txBody>
      </p:sp>
      <p:sp>
        <p:nvSpPr>
          <p:cNvPr id="8" name="t6"/>
          <p:cNvSpPr txBox="1"/>
          <p:nvPr/>
        </p:nvSpPr>
        <p:spPr>
          <a:xfrm>
            <a:off x="457200" y="33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Evidence still required: Are tenant isolation controls documented?</a:t>
            </a:r>
          </a:p>
        </p:txBody>
      </p:sp>
      <p:sp>
        <p:nvSpPr>
          <p:cNvPr id="9" name="t7"/>
          <p:cNvSpPr txBox="1"/>
          <p:nvPr/>
        </p:nvSpPr>
        <p:spPr>
          <a:xfrm>
            <a:off x="457200" y="37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Evidence still required: Is a current subprocessor list available?</a:t>
            </a:r>
          </a:p>
        </p:txBody>
      </p:sp>
      <p:sp>
        <p:nvSpPr>
          <p:cNvPr id="10" name="t8"/>
          <p:cNvSpPr txBox="1"/>
          <p:nvPr/>
        </p:nvSpPr>
        <p:spPr>
          <a:xfrm>
            <a:off x="457200" y="41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Phase B Portal 1789355266: Response needs review: Does the vendor use subcontractors or subprocessors for this service?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Overdue Remediation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Supreme Investigation: Private-beta MFA evidence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Monitoring Changes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External monitoring not configured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Signals 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Major Decisions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REJECT residual 31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APPROVE_WITH_CONDITIONS residual 58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RISK_ACCEPTED residual 58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APPROVE_WITH_CONDITIONS residual 58</a:t>
            </a:r>
          </a:p>
        </p:txBody>
      </p:sp>
      <p:sp>
        <p:nvSpPr>
          <p:cNvPr id="7" name="t5"/>
          <p:cNvSpPr txBox="1"/>
          <p:nvPr/>
        </p:nvSpPr>
        <p:spPr>
          <a:xfrm>
            <a:off x="457200" y="29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RISK_ACCEPTED residual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457200" y="80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2800" b="1" dirty="0">
                <a:solidFill>
                  <a:srgbClr val="0F172A"/>
                </a:solidFill>
              </a:rPr>
              <a:t>Recommendations</a:t>
            </a:r>
          </a:p>
        </p:txBody>
      </p:sp>
      <p:sp>
        <p:nvSpPr>
          <p:cNvPr id="3" name="t1"/>
          <p:cNvSpPr txBox="1"/>
          <p:nvPr/>
        </p:nvSpPr>
        <p:spPr>
          <a:xfrm>
            <a:off x="457200" y="122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Complete 11 overdue vendor assessment(s).</a:t>
            </a:r>
          </a:p>
        </p:txBody>
      </p:sp>
      <p:sp>
        <p:nvSpPr>
          <p:cNvPr id="4" name="t2"/>
          <p:cNvSpPr txBox="1"/>
          <p:nvPr/>
        </p:nvSpPr>
        <p:spPr>
          <a:xfrm>
            <a:off x="457200" y="164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Remediate or formally accept 26 critical/high finding(s).</a:t>
            </a:r>
          </a:p>
        </p:txBody>
      </p:sp>
      <p:sp>
        <p:nvSpPr>
          <p:cNvPr id="5" name="t3"/>
          <p:cNvSpPr txBox="1"/>
          <p:nvPr/>
        </p:nvSpPr>
        <p:spPr>
          <a:xfrm>
            <a:off x="457200" y="206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Escalate 1 overdue remediation item(s).</a:t>
            </a:r>
          </a:p>
        </p:txBody>
      </p:sp>
      <p:sp>
        <p:nvSpPr>
          <p:cNvPr id="6" name="t4"/>
          <p:cNvSpPr txBox="1"/>
          <p:nvPr/>
        </p:nvSpPr>
        <p:spPr>
          <a:xfrm>
            <a:off x="457200" y="2480000"/>
            <a:ext cx="8229600" cy="457200"/>
          </a:xfrm>
          <a:prstGeom prst="rect">
            <a:avLst/>
          </a:prstGeom>
        </p:spPr>
        <p:txBody>
          <a:bodyPr/>
          <a:lstStyle/>
          <a:p>
            <a:r>
              <a:rPr lang="en-US" sz="1600" b="0" dirty="0">
                <a:solidFill>
                  <a:srgbClr val="1E293B"/>
                </a:solidFill>
              </a:rPr>
              <a:t>• Review decision briefs for 1 vendor(s) with HIGH or CRITICAL residual risk.</a:t>
            </a:r>
          </a:p>
        </p:txBody>
      </p:sp>
    </p:spTree>
  </p:cSld>
  <p:clrMapOvr>
    <a:masterClrMapping/>
  </p:clrMapOvr>
</p:sld>
</file>