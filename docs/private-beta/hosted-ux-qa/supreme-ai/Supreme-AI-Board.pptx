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3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officeDocument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
  <Relationship Id="rId13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p:lvl1pPr algn="l" defTabSz="914400" rtl="0" eaLnBrk="1" latinLnBrk="0" hangingPunct="1">
        <p:spcBef>
          <a:spcPct val="0"/>
        </p:spcBef>
        <p:buFont typeface="Arial"/>
        <p:buNone/>
        <a:defRPr sz="4400" kern="1200">
          <a:solidFill>
            <a:schemeClr val="tx1"/>
          </a:solidFill>
          <a:latin typeface="Calibri"/>
          <a:ea typeface=""/>
          <a:cs typeface=""/>
        </a:defRPr>
      </p:lvl1pPr>
    </p:titleStyle>
    <p:bodyStyle>
      <p:lvl1pPr algn="l" defTabSz="914400" rtl="0" eaLnBrk="1" latinLnBrk="0" hangingPunct="1">
        <a:defRPr sz="1800" kern="1200">
          <a:solidFill>
            <a:schemeClr val="tx1"/>
          </a:solidFill>
          <a:latin typeface="Calibri"/>
        </a:defRPr>
      </p:lvl1pPr>
    </p:bodyStyle>
    <p:otherStyle>
      <p:defPPr>
        <a:defRPr lang="en-US"/>
      </p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gold"/>
          <p:cNvSpPr/>
          <p:nvPr/>
        </p:nvSpPr>
        <p:spPr>
          <a:xfrm>
            <a:off x="420000" y="2100000"/>
            <a:ext cx="1800000" cy="70000"/>
          </a:xfrm>
          <a:prstGeom prst="roundRect">
            <a:avLst>
              <a:gd name="adj" fmla="val 6000"/>
            </a:avLst>
          </a:prstGeom>
          <a:solidFill>
            <a:srgbClr val="C5A4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4"/>
          <p:cNvSpPr txBox="1"/>
          <p:nvPr/>
        </p:nvSpPr>
        <p:spPr>
          <a:xfrm>
            <a:off x="420000" y="2280000"/>
            <a:ext cx="11000000" cy="40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1400" b="1" dirty="0">
                <a:solidFill>
                  <a:srgbClr val="C5A46E"/>
                </a:solidFill>
                <a:latin typeface="Calibri" pitchFamily="34" charset="0"/>
              </a:rPr>
              <a:t xml:space="preserve">SUPREME AI GOVERNANCE</a:t>
            </a:r>
          </a:p>
        </p:txBody>
      </p:sp>
      <p:sp>
        <p:nvSpPr>
          <p:cNvPr id="5" name="t5"/>
          <p:cNvSpPr txBox="1"/>
          <p:nvPr/>
        </p:nvSpPr>
        <p:spPr>
          <a:xfrm>
            <a:off x="420000" y="2700000"/>
            <a:ext cx="11000000" cy="70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3600" b="1" dirty="0">
                <a:solidFill>
                  <a:srgbClr val="FFFFFF"/>
                </a:solidFill>
                <a:latin typeface="Calibri" pitchFamily="34" charset="0"/>
              </a:rPr>
              <a:t xml:space="preserve">Board Risk Committee report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000" y="3480000"/>
            <a:ext cx="11000000" cy="40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1800" b="0" dirty="0">
                <a:solidFill>
                  <a:srgbClr val="E2E8F0"/>
                </a:solidFill>
                <a:latin typeface="Calibri" pitchFamily="34" charset="0"/>
              </a:rPr>
              <a:t xml:space="preserve">Elite Claims</a:t>
            </a:r>
          </a:p>
        </p:txBody>
      </p:sp>
      <p:sp>
        <p:nvSpPr>
          <p:cNvPr id="7" name="t7"/>
          <p:cNvSpPr txBox="1"/>
          <p:nvPr/>
        </p:nvSpPr>
        <p:spPr>
          <a:xfrm>
            <a:off x="420000" y="4000000"/>
            <a:ext cx="11000000" cy="3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1300" b="0" dirty="0">
                <a:solidFill>
                  <a:srgbClr val="94A3B8"/>
                </a:solidFill>
                <a:latin typeface="Calibri" pitchFamily="34" charset="0"/>
              </a:rPr>
              <a:t xml:space="preserve">2026-09-14 · Live tenant records only · No trend available</a:t>
            </a:r>
          </a:p>
        </p:txBody>
      </p:sp>
      <p:sp>
        <p:nvSpPr>
          <p:cNvPr id="8" name="t8"/>
          <p:cNvSpPr txBox="1"/>
          <p:nvPr/>
        </p:nvSpPr>
        <p:spPr>
          <a:xfrm>
            <a:off x="420000" y="5480000"/>
            <a:ext cx="11000000" cy="3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1200" b="0" dirty="0">
                <a:solidFill>
                  <a:srgbClr val="CBD5E1"/>
                </a:solidFill>
                <a:latin typeface="Calibri" pitchFamily="34" charset="0"/>
              </a:rPr>
              <a:t xml:space="preserve">Prepared for CPO, DPO, General Counsel, CISO, CRO, and the Board Risk Committee.</a:t>
            </a:r>
          </a:p>
        </p:txBody>
      </p:sp>
      <p:sp>
        <p:nvSpPr>
          <p:cNvPr id="9" name="t9"/>
          <p:cNvSpPr txBox="1"/>
          <p:nvPr/>
        </p:nvSpPr>
        <p:spPr>
          <a:xfrm>
            <a:off x="420000" y="5880000"/>
            <a:ext cx="110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1100" b="0" dirty="0">
                <a:solidFill>
                  <a:srgbClr val="94A3B8"/>
                </a:solidFill>
                <a:latin typeface="Calibri" pitchFamily="34" charset="0"/>
              </a:rPr>
              <a:t xml:space="preserve">Recorded AI inventory is not an approval or a legal finding. Not legal advice.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"/>
          <p:cNvSpPr/>
          <p:nvPr/>
        </p:nvSpPr>
        <p:spPr>
          <a:xfrm>
            <a:off x="0" y="0"/>
            <a:ext cx="12192000" cy="118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gold"/>
          <p:cNvSpPr/>
          <p:nvPr/>
        </p:nvSpPr>
        <p:spPr>
          <a:xfrm>
            <a:off x="0" y="1180000"/>
            <a:ext cx="12192000" cy="50000"/>
          </a:xfrm>
          <a:prstGeom prst="roundRect">
            <a:avLst>
              <a:gd name="adj" fmla="val 6000"/>
            </a:avLst>
          </a:prstGeom>
          <a:solidFill>
            <a:srgbClr val="C5A4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420000" y="220000"/>
            <a:ext cx="11000000" cy="5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 xml:space="preserve">AI posture at a glance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000" y="740000"/>
            <a:ext cx="11000000" cy="3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1200" b="0" dirty="0">
                <a:solidFill>
                  <a:srgbClr val="CBD5E1"/>
                </a:solidFill>
                <a:latin typeface="Calibri" pitchFamily="34" charset="0"/>
              </a:rPr>
              <a:t xml:space="preserve">Recorded inventory, not an approval or a legal finding.</a:t>
            </a:r>
          </a:p>
        </p:txBody>
      </p:sp>
      <p:sp>
        <p:nvSpPr>
          <p:cNvPr id="10" name="k10"/>
          <p:cNvSpPr/>
          <p:nvPr/>
        </p:nvSpPr>
        <p:spPr>
          <a:xfrm>
            <a:off x="4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4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1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4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Active AI systems</a:t>
            </a:r>
          </a:p>
        </p:txBody>
      </p:sp>
      <p:sp>
        <p:nvSpPr>
          <p:cNvPr id="20" name="k20"/>
          <p:cNvSpPr/>
          <p:nvPr/>
        </p:nvSpPr>
        <p:spPr>
          <a:xfrm>
            <a:off x="31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21"/>
          <p:cNvSpPr txBox="1"/>
          <p:nvPr/>
        </p:nvSpPr>
        <p:spPr>
          <a:xfrm>
            <a:off x="31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0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31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Production</a:t>
            </a:r>
          </a:p>
        </p:txBody>
      </p:sp>
      <p:sp>
        <p:nvSpPr>
          <p:cNvPr id="30" name="k30"/>
          <p:cNvSpPr/>
          <p:nvPr/>
        </p:nvSpPr>
        <p:spPr>
          <a:xfrm>
            <a:off x="58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31"/>
          <p:cNvSpPr txBox="1"/>
          <p:nvPr/>
        </p:nvSpPr>
        <p:spPr>
          <a:xfrm>
            <a:off x="58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0</a:t>
            </a:r>
          </a:p>
        </p:txBody>
      </p:sp>
      <p:sp>
        <p:nvSpPr>
          <p:cNvPr id="32" name="t32"/>
          <p:cNvSpPr txBox="1"/>
          <p:nvPr/>
        </p:nvSpPr>
        <p:spPr>
          <a:xfrm>
            <a:off x="58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High-risk uses</a:t>
            </a:r>
          </a:p>
        </p:txBody>
      </p:sp>
      <p:sp>
        <p:nvSpPr>
          <p:cNvPr id="40" name="k40"/>
          <p:cNvSpPr/>
          <p:nvPr/>
        </p:nvSpPr>
        <p:spPr>
          <a:xfrm>
            <a:off x="85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41"/>
          <p:cNvSpPr txBox="1"/>
          <p:nvPr/>
        </p:nvSpPr>
        <p:spPr>
          <a:xfrm>
            <a:off x="85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1</a:t>
            </a:r>
          </a:p>
        </p:txBody>
      </p:sp>
      <p:sp>
        <p:nvSpPr>
          <p:cNvPr id="42" name="t42"/>
          <p:cNvSpPr txBox="1"/>
          <p:nvPr/>
        </p:nvSpPr>
        <p:spPr>
          <a:xfrm>
            <a:off x="85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Open incidents</a:t>
            </a:r>
          </a:p>
        </p:txBody>
      </p:sp>
      <p:sp>
        <p:nvSpPr>
          <p:cNvPr id="50" name="t50"/>
          <p:cNvSpPr txBox="1"/>
          <p:nvPr/>
        </p:nvSpPr>
        <p:spPr>
          <a:xfrm>
            <a:off x="420000" y="3180000"/>
            <a:ext cx="11000000" cy="30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1200" b="0" dirty="0">
                <a:solidFill>
                  <a:srgbClr val="64748B"/>
                </a:solidFill>
                <a:latin typeface="Calibri" pitchFamily="34" charset="0"/>
              </a:rPr>
              <a:t xml:space="preserve">No trend available. Supreme does not invent arrows when history is insufficient.</a:t>
            </a:r>
          </a:p>
        </p:txBody>
      </p:sp>
      <p:sp>
        <p:nvSpPr>
          <p:cNvPr id="60" name="t60"/>
          <p:cNvSpPr txBox="1"/>
          <p:nvPr/>
        </p:nvSpPr>
        <p:spPr>
          <a:xfrm>
            <a:off x="420000" y="3600000"/>
            <a:ext cx="3200000" cy="28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1200" b="0" dirty="0">
                <a:solidFill>
                  <a:srgbClr val="475569"/>
                </a:solidFill>
                <a:latin typeface="Calibri" pitchFamily="34" charset="0"/>
              </a:rPr>
              <a:t xml:space="preserve">Active AI systems 1</a:t>
            </a:r>
          </a:p>
        </p:txBody>
      </p:sp>
      <p:sp>
        <p:nvSpPr>
          <p:cNvPr id="61" name="bg60"/>
          <p:cNvSpPr/>
          <p:nvPr/>
        </p:nvSpPr>
        <p:spPr>
          <a:xfrm>
            <a:off x="3720000" y="3660000"/>
            <a:ext cx="5200000" cy="160000"/>
          </a:xfrm>
          <a:prstGeom prst="roundRect">
            <a:avLst>
              <a:gd name="adj" fmla="val 6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fg60"/>
          <p:cNvSpPr/>
          <p:nvPr/>
        </p:nvSpPr>
        <p:spPr>
          <a:xfrm>
            <a:off x="3720000" y="3660000"/>
            <a:ext cx="5200000" cy="16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t70"/>
          <p:cNvSpPr txBox="1"/>
          <p:nvPr/>
        </p:nvSpPr>
        <p:spPr>
          <a:xfrm>
            <a:off x="420000" y="4080000"/>
            <a:ext cx="3200000" cy="28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1200" b="0" dirty="0">
                <a:solidFill>
                  <a:srgbClr val="475569"/>
                </a:solidFill>
                <a:latin typeface="Calibri" pitchFamily="34" charset="0"/>
              </a:rPr>
              <a:t xml:space="preserve">Production 0</a:t>
            </a:r>
          </a:p>
        </p:txBody>
      </p:sp>
      <p:sp>
        <p:nvSpPr>
          <p:cNvPr id="71" name="bg70"/>
          <p:cNvSpPr/>
          <p:nvPr/>
        </p:nvSpPr>
        <p:spPr>
          <a:xfrm>
            <a:off x="3720000" y="4140000"/>
            <a:ext cx="5200000" cy="160000"/>
          </a:xfrm>
          <a:prstGeom prst="roundRect">
            <a:avLst>
              <a:gd name="adj" fmla="val 6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fg70"/>
          <p:cNvSpPr/>
          <p:nvPr/>
        </p:nvSpPr>
        <p:spPr>
          <a:xfrm>
            <a:off x="3720000" y="4140000"/>
            <a:ext cx="120000" cy="16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t80"/>
          <p:cNvSpPr txBox="1"/>
          <p:nvPr/>
        </p:nvSpPr>
        <p:spPr>
          <a:xfrm>
            <a:off x="420000" y="4560000"/>
            <a:ext cx="3200000" cy="28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1200" b="0" dirty="0">
                <a:solidFill>
                  <a:srgbClr val="475569"/>
                </a:solidFill>
                <a:latin typeface="Calibri" pitchFamily="34" charset="0"/>
              </a:rPr>
              <a:t xml:space="preserve">High-risk uses 0</a:t>
            </a:r>
          </a:p>
        </p:txBody>
      </p:sp>
      <p:sp>
        <p:nvSpPr>
          <p:cNvPr id="81" name="bg80"/>
          <p:cNvSpPr/>
          <p:nvPr/>
        </p:nvSpPr>
        <p:spPr>
          <a:xfrm>
            <a:off x="3720000" y="4620000"/>
            <a:ext cx="5200000" cy="160000"/>
          </a:xfrm>
          <a:prstGeom prst="roundRect">
            <a:avLst>
              <a:gd name="adj" fmla="val 6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" name="fg80"/>
          <p:cNvSpPr/>
          <p:nvPr/>
        </p:nvSpPr>
        <p:spPr>
          <a:xfrm>
            <a:off x="3720000" y="4620000"/>
            <a:ext cx="120000" cy="16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" name="t90"/>
          <p:cNvSpPr txBox="1"/>
          <p:nvPr/>
        </p:nvSpPr>
        <p:spPr>
          <a:xfrm>
            <a:off x="420000" y="5040000"/>
            <a:ext cx="3200000" cy="28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1200" b="0" dirty="0">
                <a:solidFill>
                  <a:srgbClr val="475569"/>
                </a:solidFill>
                <a:latin typeface="Calibri" pitchFamily="34" charset="0"/>
              </a:rPr>
              <a:t xml:space="preserve">Open incidents 1</a:t>
            </a:r>
          </a:p>
        </p:txBody>
      </p:sp>
      <p:sp>
        <p:nvSpPr>
          <p:cNvPr id="91" name="bg90"/>
          <p:cNvSpPr/>
          <p:nvPr/>
        </p:nvSpPr>
        <p:spPr>
          <a:xfrm>
            <a:off x="3720000" y="5100000"/>
            <a:ext cx="5200000" cy="160000"/>
          </a:xfrm>
          <a:prstGeom prst="roundRect">
            <a:avLst>
              <a:gd name="adj" fmla="val 6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" name="fg90"/>
          <p:cNvSpPr/>
          <p:nvPr/>
        </p:nvSpPr>
        <p:spPr>
          <a:xfrm>
            <a:off x="3720000" y="5100000"/>
            <a:ext cx="5200000" cy="16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" name="ft"/>
          <p:cNvSpPr/>
          <p:nvPr/>
        </p:nvSpPr>
        <p:spPr>
          <a:xfrm>
            <a:off x="0" y="6520000"/>
            <a:ext cx="12192000" cy="34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t901"/>
          <p:cNvSpPr txBox="1"/>
          <p:nvPr/>
        </p:nvSpPr>
        <p:spPr>
          <a:xfrm>
            <a:off x="360000" y="6560000"/>
            <a:ext cx="7800000" cy="2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900" b="0" dirty="0">
                <a:solidFill>
                  <a:srgbClr val="64748B"/>
                </a:solidFill>
                <a:latin typeface="Calibri" pitchFamily="34" charset="0"/>
              </a:rPr>
              <a:t xml:space="preserve">Supreme AI Governance Board Report · Confidential · Not legal advice</a:t>
            </a:r>
          </a:p>
        </p:txBody>
      </p:sp>
      <p:sp>
        <p:nvSpPr>
          <p:cNvPr id="902" name="t902"/>
          <p:cNvSpPr txBox="1"/>
          <p:nvPr/>
        </p:nvSpPr>
        <p:spPr>
          <a:xfrm>
            <a:off x="10400000" y="6560000"/>
            <a:ext cx="1400000" cy="2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r"/>
            <a:r>
              <a:rPr lang="en-US" sz="900" b="0" dirty="0">
                <a:solidFill>
                  <a:srgbClr val="64748B"/>
                </a:solidFill>
                <a:latin typeface="Calibri" pitchFamily="34" charset="0"/>
              </a:rPr>
              <a:t xml:space="preserve"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"/>
          <p:cNvSpPr/>
          <p:nvPr/>
        </p:nvSpPr>
        <p:spPr>
          <a:xfrm>
            <a:off x="0" y="0"/>
            <a:ext cx="12192000" cy="118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gold"/>
          <p:cNvSpPr/>
          <p:nvPr/>
        </p:nvSpPr>
        <p:spPr>
          <a:xfrm>
            <a:off x="0" y="1180000"/>
            <a:ext cx="12192000" cy="50000"/>
          </a:xfrm>
          <a:prstGeom prst="roundRect">
            <a:avLst>
              <a:gd name="adj" fmla="val 6000"/>
            </a:avLst>
          </a:prstGeom>
          <a:solidFill>
            <a:srgbClr val="C5A4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420000" y="220000"/>
            <a:ext cx="11000000" cy="5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 xml:space="preserve">AI portfolio / lifecycle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000" y="740000"/>
            <a:ext cx="11000000" cy="3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1200" b="0" dirty="0">
                <a:solidFill>
                  <a:srgbClr val="CBD5E1"/>
                </a:solidFill>
                <a:latin typeface="Calibri" pitchFamily="34" charset="0"/>
              </a:rPr>
              <a:t xml:space="preserve">A recorded system is not an approval.</a:t>
            </a:r>
          </a:p>
        </p:txBody>
      </p:sp>
      <p:sp>
        <p:nvSpPr>
          <p:cNvPr id="10" name="k10"/>
          <p:cNvSpPr/>
          <p:nvPr/>
        </p:nvSpPr>
        <p:spPr>
          <a:xfrm>
            <a:off x="4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4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1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4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Systems in view</a:t>
            </a:r>
          </a:p>
        </p:txBody>
      </p:sp>
      <p:sp>
        <p:nvSpPr>
          <p:cNvPr id="20" name="k20"/>
          <p:cNvSpPr/>
          <p:nvPr/>
        </p:nvSpPr>
        <p:spPr>
          <a:xfrm>
            <a:off x="31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21"/>
          <p:cNvSpPr txBox="1"/>
          <p:nvPr/>
        </p:nvSpPr>
        <p:spPr>
          <a:xfrm>
            <a:off x="31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0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31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Awaiting approval</a:t>
            </a:r>
          </a:p>
        </p:txBody>
      </p:sp>
      <p:sp>
        <p:nvSpPr>
          <p:cNvPr id="30" name="k30"/>
          <p:cNvSpPr/>
          <p:nvPr/>
        </p:nvSpPr>
        <p:spPr>
          <a:xfrm>
            <a:off x="58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31"/>
          <p:cNvSpPr txBox="1"/>
          <p:nvPr/>
        </p:nvSpPr>
        <p:spPr>
          <a:xfrm>
            <a:off x="58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1</a:t>
            </a:r>
          </a:p>
        </p:txBody>
      </p:sp>
      <p:sp>
        <p:nvSpPr>
          <p:cNvPr id="32" name="t32"/>
          <p:cNvSpPr txBox="1"/>
          <p:nvPr/>
        </p:nvSpPr>
        <p:spPr>
          <a:xfrm>
            <a:off x="58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Use cases</a:t>
            </a:r>
          </a:p>
        </p:txBody>
      </p:sp>
      <p:sp>
        <p:nvSpPr>
          <p:cNvPr id="40" name="k40"/>
          <p:cNvSpPr/>
          <p:nvPr/>
        </p:nvSpPr>
        <p:spPr>
          <a:xfrm>
            <a:off x="85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41"/>
          <p:cNvSpPr txBox="1"/>
          <p:nvPr/>
        </p:nvSpPr>
        <p:spPr>
          <a:xfrm>
            <a:off x="85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1</a:t>
            </a:r>
          </a:p>
        </p:txBody>
      </p:sp>
      <p:sp>
        <p:nvSpPr>
          <p:cNvPr id="42" name="t42"/>
          <p:cNvSpPr txBox="1"/>
          <p:nvPr/>
        </p:nvSpPr>
        <p:spPr>
          <a:xfrm>
            <a:off x="85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Without owners</a:t>
            </a:r>
          </a:p>
        </p:txBody>
      </p:sp>
      <p:sp>
        <p:nvSpPr>
          <p:cNvPr id="60" name="n60"/>
          <p:cNvSpPr txBox="1"/>
          <p:nvPr/>
        </p:nvSpPr>
        <p:spPr>
          <a:xfrm>
            <a:off x="420000" y="3200000"/>
            <a:ext cx="11300000" cy="330000"/>
          </a:xfrm>
          <a:prstGeom prst="rect">
            <a:avLst/>
          </a:prstGeom>
          <a:noFill/>
        </p:spPr>
        <p:txBody>
          <a:bodyPr wrap="square" anchor="t" lIns="45720" tIns="8000" rIns="45720" bIns="8000"/>
          <a:lstStyle/>
          <a:p>
            <a:pPr algn="l"/>
            <a:r>
              <a:rPr lang="en-US" sz="1300" b="0" dirty="0">
                <a:solidFill>
                  <a:srgbClr val="0F172A"/>
                </a:solidFill>
                <a:latin typeface="Calibri" pitchFamily="34" charset="0"/>
              </a:rPr>
              <a:t xml:space="preserve">AI-00001 Claims triage assistant · APPROVED · NOT_CLASSIFIED</a:t>
            </a:r>
          </a:p>
        </p:txBody>
      </p:sp>
      <p:sp>
        <p:nvSpPr>
          <p:cNvPr id="900" name="ft"/>
          <p:cNvSpPr/>
          <p:nvPr/>
        </p:nvSpPr>
        <p:spPr>
          <a:xfrm>
            <a:off x="0" y="6520000"/>
            <a:ext cx="12192000" cy="34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t901"/>
          <p:cNvSpPr txBox="1"/>
          <p:nvPr/>
        </p:nvSpPr>
        <p:spPr>
          <a:xfrm>
            <a:off x="360000" y="6560000"/>
            <a:ext cx="7800000" cy="2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900" b="0" dirty="0">
                <a:solidFill>
                  <a:srgbClr val="64748B"/>
                </a:solidFill>
                <a:latin typeface="Calibri" pitchFamily="34" charset="0"/>
              </a:rPr>
              <a:t xml:space="preserve">Supreme AI Governance Board Report · Confidential · Not legal advice</a:t>
            </a:r>
          </a:p>
        </p:txBody>
      </p:sp>
      <p:sp>
        <p:nvSpPr>
          <p:cNvPr id="902" name="t902"/>
          <p:cNvSpPr txBox="1"/>
          <p:nvPr/>
        </p:nvSpPr>
        <p:spPr>
          <a:xfrm>
            <a:off x="10400000" y="6560000"/>
            <a:ext cx="1400000" cy="2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r"/>
            <a:r>
              <a:rPr lang="en-US" sz="900" b="0" dirty="0">
                <a:solidFill>
                  <a:srgbClr val="64748B"/>
                </a:solidFill>
                <a:latin typeface="Calibri" pitchFamily="34" charset="0"/>
              </a:rPr>
              <a:t xml:space="preserve"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"/>
          <p:cNvSpPr/>
          <p:nvPr/>
        </p:nvSpPr>
        <p:spPr>
          <a:xfrm>
            <a:off x="0" y="0"/>
            <a:ext cx="12192000" cy="118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gold"/>
          <p:cNvSpPr/>
          <p:nvPr/>
        </p:nvSpPr>
        <p:spPr>
          <a:xfrm>
            <a:off x="0" y="1180000"/>
            <a:ext cx="12192000" cy="50000"/>
          </a:xfrm>
          <a:prstGeom prst="roundRect">
            <a:avLst>
              <a:gd name="adj" fmla="val 6000"/>
            </a:avLst>
          </a:prstGeom>
          <a:solidFill>
            <a:srgbClr val="C5A4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420000" y="220000"/>
            <a:ext cx="11000000" cy="5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 xml:space="preserve">Highest-risk AI uses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000" y="740000"/>
            <a:ext cx="11000000" cy="3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1200" b="0" dirty="0">
                <a:solidFill>
                  <a:srgbClr val="CBD5E1"/>
                </a:solidFill>
                <a:latin typeface="Calibri" pitchFamily="34" charset="0"/>
              </a:rPr>
              <a:t xml:space="preserve">Organization classification. Not an EU AI Act finding.</a:t>
            </a:r>
          </a:p>
        </p:txBody>
      </p:sp>
      <p:sp>
        <p:nvSpPr>
          <p:cNvPr id="10" name="k10"/>
          <p:cNvSpPr/>
          <p:nvPr/>
        </p:nvSpPr>
        <p:spPr>
          <a:xfrm>
            <a:off x="4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4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0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4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High-risk uses</a:t>
            </a:r>
          </a:p>
        </p:txBody>
      </p:sp>
      <p:sp>
        <p:nvSpPr>
          <p:cNvPr id="20" name="k20"/>
          <p:cNvSpPr/>
          <p:nvPr/>
        </p:nvSpPr>
        <p:spPr>
          <a:xfrm>
            <a:off x="31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21"/>
          <p:cNvSpPr txBox="1"/>
          <p:nvPr/>
        </p:nvSpPr>
        <p:spPr>
          <a:xfrm>
            <a:off x="31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1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31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Using personal data</a:t>
            </a:r>
          </a:p>
        </p:txBody>
      </p:sp>
      <p:sp>
        <p:nvSpPr>
          <p:cNvPr id="30" name="k30"/>
          <p:cNvSpPr/>
          <p:nvPr/>
        </p:nvSpPr>
        <p:spPr>
          <a:xfrm>
            <a:off x="58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31"/>
          <p:cNvSpPr txBox="1"/>
          <p:nvPr/>
        </p:nvSpPr>
        <p:spPr>
          <a:xfrm>
            <a:off x="58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0</a:t>
            </a:r>
          </a:p>
        </p:txBody>
      </p:sp>
      <p:sp>
        <p:nvSpPr>
          <p:cNvPr id="32" name="t32"/>
          <p:cNvSpPr txBox="1"/>
          <p:nvPr/>
        </p:nvSpPr>
        <p:spPr>
          <a:xfrm>
            <a:off x="58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External vendors</a:t>
            </a:r>
          </a:p>
        </p:txBody>
      </p:sp>
      <p:sp>
        <p:nvSpPr>
          <p:cNvPr id="40" name="k40"/>
          <p:cNvSpPr/>
          <p:nvPr/>
        </p:nvSpPr>
        <p:spPr>
          <a:xfrm>
            <a:off x="85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41"/>
          <p:cNvSpPr txBox="1"/>
          <p:nvPr/>
        </p:nvSpPr>
        <p:spPr>
          <a:xfrm>
            <a:off x="85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0</a:t>
            </a:r>
          </a:p>
        </p:txBody>
      </p:sp>
      <p:sp>
        <p:nvSpPr>
          <p:cNvPr id="42" name="t42"/>
          <p:cNvSpPr txBox="1"/>
          <p:nvPr/>
        </p:nvSpPr>
        <p:spPr>
          <a:xfrm>
            <a:off x="85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Reviews overdue</a:t>
            </a:r>
          </a:p>
        </p:txBody>
      </p:sp>
      <p:sp>
        <p:nvSpPr>
          <p:cNvPr id="60" name="n60"/>
          <p:cNvSpPr txBox="1"/>
          <p:nvPr/>
        </p:nvSpPr>
        <p:spPr>
          <a:xfrm>
            <a:off x="420000" y="3200000"/>
            <a:ext cx="11300000" cy="330000"/>
          </a:xfrm>
          <a:prstGeom prst="rect">
            <a:avLst/>
          </a:prstGeom>
          <a:noFill/>
        </p:spPr>
        <p:txBody>
          <a:bodyPr wrap="square" anchor="t" lIns="45720" tIns="8000" rIns="45720" bIns="8000"/>
          <a:lstStyle/>
          <a:p>
            <a:pPr algn="l"/>
            <a:r>
              <a:rPr lang="en-US" sz="1300" b="0" dirty="0">
                <a:solidFill>
                  <a:srgbClr val="0F172A"/>
                </a:solidFill>
                <a:latin typeface="Calibri" pitchFamily="34" charset="0"/>
              </a:rPr>
              <a:t xml:space="preserve">AI-00001 Claims triage assistant · NOT_CLASSIFIED · LIMITED</a:t>
            </a:r>
          </a:p>
        </p:txBody>
      </p:sp>
      <p:sp>
        <p:nvSpPr>
          <p:cNvPr id="90" name="t90"/>
          <p:cNvSpPr txBox="1"/>
          <p:nvPr/>
        </p:nvSpPr>
        <p:spPr>
          <a:xfrm>
            <a:off x="420000" y="5600000"/>
            <a:ext cx="11000000" cy="30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1200" b="0" dirty="0">
                <a:solidFill>
                  <a:srgbClr val="64748B"/>
                </a:solidFill>
                <a:latin typeface="Calibri" pitchFamily="34" charset="0"/>
              </a:rPr>
              <a:t xml:space="preserve">No high organization classification is recorded. Showing inventoried systems instead.</a:t>
            </a:r>
          </a:p>
        </p:txBody>
      </p:sp>
      <p:sp>
        <p:nvSpPr>
          <p:cNvPr id="900" name="ft"/>
          <p:cNvSpPr/>
          <p:nvPr/>
        </p:nvSpPr>
        <p:spPr>
          <a:xfrm>
            <a:off x="0" y="6520000"/>
            <a:ext cx="12192000" cy="34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t901"/>
          <p:cNvSpPr txBox="1"/>
          <p:nvPr/>
        </p:nvSpPr>
        <p:spPr>
          <a:xfrm>
            <a:off x="360000" y="6560000"/>
            <a:ext cx="7800000" cy="2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900" b="0" dirty="0">
                <a:solidFill>
                  <a:srgbClr val="64748B"/>
                </a:solidFill>
                <a:latin typeface="Calibri" pitchFamily="34" charset="0"/>
              </a:rPr>
              <a:t xml:space="preserve">Supreme AI Governance Board Report · Confidential · Not legal advice</a:t>
            </a:r>
          </a:p>
        </p:txBody>
      </p:sp>
      <p:sp>
        <p:nvSpPr>
          <p:cNvPr id="902" name="t902"/>
          <p:cNvSpPr txBox="1"/>
          <p:nvPr/>
        </p:nvSpPr>
        <p:spPr>
          <a:xfrm>
            <a:off x="10400000" y="6560000"/>
            <a:ext cx="1400000" cy="2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r"/>
            <a:r>
              <a:rPr lang="en-US" sz="900" b="0" dirty="0">
                <a:solidFill>
                  <a:srgbClr val="64748B"/>
                </a:solidFill>
                <a:latin typeface="Calibri" pitchFamily="34" charset="0"/>
              </a:rPr>
              <a:t xml:space="preserve"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"/>
          <p:cNvSpPr/>
          <p:nvPr/>
        </p:nvSpPr>
        <p:spPr>
          <a:xfrm>
            <a:off x="0" y="0"/>
            <a:ext cx="12192000" cy="118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gold"/>
          <p:cNvSpPr/>
          <p:nvPr/>
        </p:nvSpPr>
        <p:spPr>
          <a:xfrm>
            <a:off x="0" y="1180000"/>
            <a:ext cx="12192000" cy="50000"/>
          </a:xfrm>
          <a:prstGeom prst="roundRect">
            <a:avLst>
              <a:gd name="adj" fmla="val 6000"/>
            </a:avLst>
          </a:prstGeom>
          <a:solidFill>
            <a:srgbClr val="C5A4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420000" y="220000"/>
            <a:ext cx="11000000" cy="5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 xml:space="preserve">Human oversight posture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000" y="740000"/>
            <a:ext cx="11000000" cy="3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1200" b="0" dirty="0">
                <a:solidFill>
                  <a:srgbClr val="CBD5E1"/>
                </a:solidFill>
                <a:latin typeface="Calibri" pitchFamily="34" charset="0"/>
              </a:rPr>
              <a:t xml:space="preserve">AI cannot approve itself.</a:t>
            </a:r>
          </a:p>
        </p:txBody>
      </p:sp>
      <p:sp>
        <p:nvSpPr>
          <p:cNvPr id="10" name="k10"/>
          <p:cNvSpPr/>
          <p:nvPr/>
        </p:nvSpPr>
        <p:spPr>
          <a:xfrm>
            <a:off x="4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4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1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4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Review required</a:t>
            </a:r>
          </a:p>
        </p:txBody>
      </p:sp>
      <p:sp>
        <p:nvSpPr>
          <p:cNvPr id="20" name="k20"/>
          <p:cNvSpPr/>
          <p:nvPr/>
        </p:nvSpPr>
        <p:spPr>
          <a:xfrm>
            <a:off x="31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21"/>
          <p:cNvSpPr txBox="1"/>
          <p:nvPr/>
        </p:nvSpPr>
        <p:spPr>
          <a:xfrm>
            <a:off x="31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1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31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Human can override</a:t>
            </a:r>
          </a:p>
        </p:txBody>
      </p:sp>
      <p:sp>
        <p:nvSpPr>
          <p:cNvPr id="30" name="k30"/>
          <p:cNvSpPr/>
          <p:nvPr/>
        </p:nvSpPr>
        <p:spPr>
          <a:xfrm>
            <a:off x="58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31"/>
          <p:cNvSpPr txBox="1"/>
          <p:nvPr/>
        </p:nvSpPr>
        <p:spPr>
          <a:xfrm>
            <a:off x="58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1</a:t>
            </a:r>
          </a:p>
        </p:txBody>
      </p:sp>
      <p:sp>
        <p:nvSpPr>
          <p:cNvPr id="32" name="t32"/>
          <p:cNvSpPr txBox="1"/>
          <p:nvPr/>
        </p:nvSpPr>
        <p:spPr>
          <a:xfrm>
            <a:off x="58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Human can stop</a:t>
            </a:r>
          </a:p>
        </p:txBody>
      </p:sp>
      <p:sp>
        <p:nvSpPr>
          <p:cNvPr id="40" name="k40"/>
          <p:cNvSpPr/>
          <p:nvPr/>
        </p:nvSpPr>
        <p:spPr>
          <a:xfrm>
            <a:off x="85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41"/>
          <p:cNvSpPr txBox="1"/>
          <p:nvPr/>
        </p:nvSpPr>
        <p:spPr>
          <a:xfrm>
            <a:off x="85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Human</a:t>
            </a:r>
          </a:p>
        </p:txBody>
      </p:sp>
      <p:sp>
        <p:nvSpPr>
          <p:cNvPr id="42" name="t42"/>
          <p:cNvSpPr txBox="1"/>
          <p:nvPr/>
        </p:nvSpPr>
        <p:spPr>
          <a:xfrm>
            <a:off x="85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Authority</a:t>
            </a:r>
          </a:p>
        </p:txBody>
      </p:sp>
      <p:sp>
        <p:nvSpPr>
          <p:cNvPr id="60" name="n60"/>
          <p:cNvSpPr txBox="1"/>
          <p:nvPr/>
        </p:nvSpPr>
        <p:spPr>
          <a:xfrm>
            <a:off x="420000" y="3200000"/>
            <a:ext cx="11300000" cy="330000"/>
          </a:xfrm>
          <a:prstGeom prst="rect">
            <a:avLst/>
          </a:prstGeom>
          <a:noFill/>
        </p:spPr>
        <p:txBody>
          <a:bodyPr wrap="square" anchor="t" lIns="45720" tIns="8000" rIns="45720" bIns="8000"/>
          <a:lstStyle/>
          <a:p>
            <a:pPr algn="l"/>
            <a:r>
              <a:rPr lang="en-US" sz="1300" b="0" dirty="0">
                <a:solidFill>
                  <a:srgbClr val="0F172A"/>
                </a:solidFill>
                <a:latin typeface="Calibri" pitchFamily="34" charset="0"/>
              </a:rPr>
              <a:t xml:space="preserve">AI-00001 Claims operations · NOT_RECORDED</a:t>
            </a:r>
          </a:p>
        </p:txBody>
      </p:sp>
      <p:sp>
        <p:nvSpPr>
          <p:cNvPr id="900" name="ft"/>
          <p:cNvSpPr/>
          <p:nvPr/>
        </p:nvSpPr>
        <p:spPr>
          <a:xfrm>
            <a:off x="0" y="6520000"/>
            <a:ext cx="12192000" cy="34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t901"/>
          <p:cNvSpPr txBox="1"/>
          <p:nvPr/>
        </p:nvSpPr>
        <p:spPr>
          <a:xfrm>
            <a:off x="360000" y="6560000"/>
            <a:ext cx="7800000" cy="2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900" b="0" dirty="0">
                <a:solidFill>
                  <a:srgbClr val="64748B"/>
                </a:solidFill>
                <a:latin typeface="Calibri" pitchFamily="34" charset="0"/>
              </a:rPr>
              <a:t xml:space="preserve">Supreme AI Governance Board Report · Confidential · Not legal advice</a:t>
            </a:r>
          </a:p>
        </p:txBody>
      </p:sp>
      <p:sp>
        <p:nvSpPr>
          <p:cNvPr id="902" name="t902"/>
          <p:cNvSpPr txBox="1"/>
          <p:nvPr/>
        </p:nvSpPr>
        <p:spPr>
          <a:xfrm>
            <a:off x="10400000" y="6560000"/>
            <a:ext cx="1400000" cy="2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r"/>
            <a:r>
              <a:rPr lang="en-US" sz="900" b="0" dirty="0">
                <a:solidFill>
                  <a:srgbClr val="64748B"/>
                </a:solidFill>
                <a:latin typeface="Calibri" pitchFamily="34" charset="0"/>
              </a:rPr>
              <a:t xml:space="preserve"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"/>
          <p:cNvSpPr/>
          <p:nvPr/>
        </p:nvSpPr>
        <p:spPr>
          <a:xfrm>
            <a:off x="0" y="0"/>
            <a:ext cx="12192000" cy="118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gold"/>
          <p:cNvSpPr/>
          <p:nvPr/>
        </p:nvSpPr>
        <p:spPr>
          <a:xfrm>
            <a:off x="0" y="1180000"/>
            <a:ext cx="12192000" cy="50000"/>
          </a:xfrm>
          <a:prstGeom prst="roundRect">
            <a:avLst>
              <a:gd name="adj" fmla="val 6000"/>
            </a:avLst>
          </a:prstGeom>
          <a:solidFill>
            <a:srgbClr val="C5A4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420000" y="220000"/>
            <a:ext cx="11000000" cy="5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 xml:space="preserve">Personal / sensitive-data exposure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000" y="740000"/>
            <a:ext cx="11000000" cy="3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1200" b="0" dirty="0">
                <a:solidFill>
                  <a:srgbClr val="CBD5E1"/>
                </a:solidFill>
                <a:latin typeface="Calibri" pitchFamily="34" charset="0"/>
              </a:rPr>
              <a:t xml:space="preserve">Privacy operations are reused. No second privacy engine.</a:t>
            </a:r>
          </a:p>
        </p:txBody>
      </p:sp>
      <p:sp>
        <p:nvSpPr>
          <p:cNvPr id="10" name="k10"/>
          <p:cNvSpPr/>
          <p:nvPr/>
        </p:nvSpPr>
        <p:spPr>
          <a:xfrm>
            <a:off x="4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4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1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4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Personal data</a:t>
            </a:r>
          </a:p>
        </p:txBody>
      </p:sp>
      <p:sp>
        <p:nvSpPr>
          <p:cNvPr id="20" name="k20"/>
          <p:cNvSpPr/>
          <p:nvPr/>
        </p:nvSpPr>
        <p:spPr>
          <a:xfrm>
            <a:off x="31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21"/>
          <p:cNvSpPr txBox="1"/>
          <p:nvPr/>
        </p:nvSpPr>
        <p:spPr>
          <a:xfrm>
            <a:off x="31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0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31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Sensitive data</a:t>
            </a:r>
          </a:p>
        </p:txBody>
      </p:sp>
      <p:sp>
        <p:nvSpPr>
          <p:cNvPr id="30" name="k30"/>
          <p:cNvSpPr/>
          <p:nvPr/>
        </p:nvSpPr>
        <p:spPr>
          <a:xfrm>
            <a:off x="58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31"/>
          <p:cNvSpPr txBox="1"/>
          <p:nvPr/>
        </p:nvSpPr>
        <p:spPr>
          <a:xfrm>
            <a:off x="58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1</a:t>
            </a:r>
          </a:p>
        </p:txBody>
      </p:sp>
      <p:sp>
        <p:nvSpPr>
          <p:cNvPr id="32" name="t32"/>
          <p:cNvSpPr txBox="1"/>
          <p:nvPr/>
        </p:nvSpPr>
        <p:spPr>
          <a:xfrm>
            <a:off x="58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Privacy links</a:t>
            </a:r>
          </a:p>
        </p:txBody>
      </p:sp>
      <p:sp>
        <p:nvSpPr>
          <p:cNvPr id="40" name="k40"/>
          <p:cNvSpPr/>
          <p:nvPr/>
        </p:nvSpPr>
        <p:spPr>
          <a:xfrm>
            <a:off x="85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41"/>
          <p:cNvSpPr txBox="1"/>
          <p:nvPr/>
        </p:nvSpPr>
        <p:spPr>
          <a:xfrm>
            <a:off x="85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Linked</a:t>
            </a:r>
          </a:p>
        </p:txBody>
      </p:sp>
      <p:sp>
        <p:nvSpPr>
          <p:cNvPr id="42" name="t42"/>
          <p:cNvSpPr txBox="1"/>
          <p:nvPr/>
        </p:nvSpPr>
        <p:spPr>
          <a:xfrm>
            <a:off x="85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Not duplicated</a:t>
            </a:r>
          </a:p>
        </p:txBody>
      </p:sp>
      <p:sp>
        <p:nvSpPr>
          <p:cNvPr id="60" name="n60"/>
          <p:cNvSpPr txBox="1"/>
          <p:nvPr/>
        </p:nvSpPr>
        <p:spPr>
          <a:xfrm>
            <a:off x="420000" y="3200000"/>
            <a:ext cx="11300000" cy="330000"/>
          </a:xfrm>
          <a:prstGeom prst="rect">
            <a:avLst/>
          </a:prstGeom>
          <a:noFill/>
        </p:spPr>
        <p:txBody>
          <a:bodyPr wrap="square" anchor="t" lIns="45720" tIns="8000" rIns="45720" bIns="8000"/>
          <a:lstStyle/>
          <a:p>
            <a:pPr algn="l"/>
            <a:r>
              <a:rPr lang="en-US" sz="1300" b="0" dirty="0">
                <a:solidFill>
                  <a:srgbClr val="0F172A"/>
                </a:solidFill>
                <a:latin typeface="Calibri" pitchFamily="34" charset="0"/>
              </a:rPr>
              <a:t xml:space="preserve">AI-00001 Claims triage assistant · personal yes · sensitive no</a:t>
            </a:r>
          </a:p>
        </p:txBody>
      </p:sp>
      <p:sp>
        <p:nvSpPr>
          <p:cNvPr id="900" name="ft"/>
          <p:cNvSpPr/>
          <p:nvPr/>
        </p:nvSpPr>
        <p:spPr>
          <a:xfrm>
            <a:off x="0" y="6520000"/>
            <a:ext cx="12192000" cy="34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t901"/>
          <p:cNvSpPr txBox="1"/>
          <p:nvPr/>
        </p:nvSpPr>
        <p:spPr>
          <a:xfrm>
            <a:off x="360000" y="6560000"/>
            <a:ext cx="7800000" cy="2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900" b="0" dirty="0">
                <a:solidFill>
                  <a:srgbClr val="64748B"/>
                </a:solidFill>
                <a:latin typeface="Calibri" pitchFamily="34" charset="0"/>
              </a:rPr>
              <a:t xml:space="preserve">Supreme AI Governance Board Report · Confidential · Not legal advice</a:t>
            </a:r>
          </a:p>
        </p:txBody>
      </p:sp>
      <p:sp>
        <p:nvSpPr>
          <p:cNvPr id="902" name="t902"/>
          <p:cNvSpPr txBox="1"/>
          <p:nvPr/>
        </p:nvSpPr>
        <p:spPr>
          <a:xfrm>
            <a:off x="10400000" y="6560000"/>
            <a:ext cx="1400000" cy="2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r"/>
            <a:r>
              <a:rPr lang="en-US" sz="900" b="0" dirty="0">
                <a:solidFill>
                  <a:srgbClr val="64748B"/>
                </a:solidFill>
                <a:latin typeface="Calibri" pitchFamily="34" charset="0"/>
              </a:rPr>
              <a:t xml:space="preserve"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"/>
          <p:cNvSpPr/>
          <p:nvPr/>
        </p:nvSpPr>
        <p:spPr>
          <a:xfrm>
            <a:off x="0" y="0"/>
            <a:ext cx="12192000" cy="118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gold"/>
          <p:cNvSpPr/>
          <p:nvPr/>
        </p:nvSpPr>
        <p:spPr>
          <a:xfrm>
            <a:off x="0" y="1180000"/>
            <a:ext cx="12192000" cy="50000"/>
          </a:xfrm>
          <a:prstGeom prst="roundRect">
            <a:avLst>
              <a:gd name="adj" fmla="val 6000"/>
            </a:avLst>
          </a:prstGeom>
          <a:solidFill>
            <a:srgbClr val="C5A4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420000" y="220000"/>
            <a:ext cx="11000000" cy="5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 xml:space="preserve">External provider exposure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000" y="740000"/>
            <a:ext cx="11000000" cy="3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1200" b="0" dirty="0">
                <a:solidFill>
                  <a:srgbClr val="CBD5E1"/>
                </a:solidFill>
                <a:latin typeface="Calibri" pitchFamily="34" charset="0"/>
              </a:rPr>
              <a:t xml:space="preserve">Third Party identity is reused. Provider facts are recorded, not invented.</a:t>
            </a:r>
          </a:p>
        </p:txBody>
      </p:sp>
      <p:sp>
        <p:nvSpPr>
          <p:cNvPr id="10" name="k10"/>
          <p:cNvSpPr/>
          <p:nvPr/>
        </p:nvSpPr>
        <p:spPr>
          <a:xfrm>
            <a:off x="4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4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0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4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External vendors</a:t>
            </a:r>
          </a:p>
        </p:txBody>
      </p:sp>
      <p:sp>
        <p:nvSpPr>
          <p:cNvPr id="20" name="k20"/>
          <p:cNvSpPr/>
          <p:nvPr/>
        </p:nvSpPr>
        <p:spPr>
          <a:xfrm>
            <a:off x="31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21"/>
          <p:cNvSpPr txBox="1"/>
          <p:nvPr/>
        </p:nvSpPr>
        <p:spPr>
          <a:xfrm>
            <a:off x="31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1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31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Model links</a:t>
            </a:r>
          </a:p>
        </p:txBody>
      </p:sp>
      <p:sp>
        <p:nvSpPr>
          <p:cNvPr id="30" name="k30"/>
          <p:cNvSpPr/>
          <p:nvPr/>
        </p:nvSpPr>
        <p:spPr>
          <a:xfrm>
            <a:off x="58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31"/>
          <p:cNvSpPr txBox="1"/>
          <p:nvPr/>
        </p:nvSpPr>
        <p:spPr>
          <a:xfrm>
            <a:off x="58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000" b="1" dirty="0">
                <a:solidFill>
                  <a:srgbClr val="0F172A"/>
                </a:solidFill>
                <a:latin typeface="Calibri" pitchFamily="34" charset="0"/>
              </a:rPr>
              <a:t xml:space="preserve">Unknown</a:t>
            </a:r>
          </a:p>
        </p:txBody>
      </p:sp>
      <p:sp>
        <p:nvSpPr>
          <p:cNvPr id="32" name="t32"/>
          <p:cNvSpPr txBox="1"/>
          <p:nvPr/>
        </p:nvSpPr>
        <p:spPr>
          <a:xfrm>
            <a:off x="58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If not recorded</a:t>
            </a:r>
          </a:p>
        </p:txBody>
      </p:sp>
      <p:sp>
        <p:nvSpPr>
          <p:cNvPr id="40" name="k40"/>
          <p:cNvSpPr/>
          <p:nvPr/>
        </p:nvSpPr>
        <p:spPr>
          <a:xfrm>
            <a:off x="85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41"/>
          <p:cNvSpPr txBox="1"/>
          <p:nvPr/>
        </p:nvSpPr>
        <p:spPr>
          <a:xfrm>
            <a:off x="85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Manual</a:t>
            </a:r>
          </a:p>
        </p:txBody>
      </p:sp>
      <p:sp>
        <p:nvSpPr>
          <p:cNvPr id="42" name="t42"/>
          <p:cNvSpPr txBox="1"/>
          <p:nvPr/>
        </p:nvSpPr>
        <p:spPr>
          <a:xfrm>
            <a:off x="85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Telemetry</a:t>
            </a:r>
          </a:p>
        </p:txBody>
      </p:sp>
      <p:sp>
        <p:nvSpPr>
          <p:cNvPr id="60" name="n60"/>
          <p:cNvSpPr txBox="1"/>
          <p:nvPr/>
        </p:nvSpPr>
        <p:spPr>
          <a:xfrm>
            <a:off x="420000" y="3200000"/>
            <a:ext cx="11300000" cy="330000"/>
          </a:xfrm>
          <a:prstGeom prst="rect">
            <a:avLst/>
          </a:prstGeom>
          <a:noFill/>
        </p:spPr>
        <p:txBody>
          <a:bodyPr wrap="square" anchor="t" lIns="45720" tIns="8000" rIns="45720" bIns="8000"/>
          <a:lstStyle/>
          <a:p>
            <a:pPr algn="l"/>
            <a:r>
              <a:rPr lang="en-US" sz="1300" b="0" dirty="0">
                <a:solidFill>
                  <a:srgbClr val="0F172A"/>
                </a:solidFill>
                <a:latin typeface="Calibri" pitchFamily="34" charset="0"/>
              </a:rPr>
              <a:t xml:space="preserve">AI-00001 Recorded model provider · Unknown / Not recorded</a:t>
            </a:r>
          </a:p>
        </p:txBody>
      </p:sp>
      <p:sp>
        <p:nvSpPr>
          <p:cNvPr id="900" name="ft"/>
          <p:cNvSpPr/>
          <p:nvPr/>
        </p:nvSpPr>
        <p:spPr>
          <a:xfrm>
            <a:off x="0" y="6520000"/>
            <a:ext cx="12192000" cy="34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t901"/>
          <p:cNvSpPr txBox="1"/>
          <p:nvPr/>
        </p:nvSpPr>
        <p:spPr>
          <a:xfrm>
            <a:off x="360000" y="6560000"/>
            <a:ext cx="7800000" cy="2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900" b="0" dirty="0">
                <a:solidFill>
                  <a:srgbClr val="64748B"/>
                </a:solidFill>
                <a:latin typeface="Calibri" pitchFamily="34" charset="0"/>
              </a:rPr>
              <a:t xml:space="preserve">Supreme AI Governance Board Report · Confidential · Not legal advice</a:t>
            </a:r>
          </a:p>
        </p:txBody>
      </p:sp>
      <p:sp>
        <p:nvSpPr>
          <p:cNvPr id="902" name="t902"/>
          <p:cNvSpPr txBox="1"/>
          <p:nvPr/>
        </p:nvSpPr>
        <p:spPr>
          <a:xfrm>
            <a:off x="10400000" y="6560000"/>
            <a:ext cx="1400000" cy="2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r"/>
            <a:r>
              <a:rPr lang="en-US" sz="900" b="0" dirty="0">
                <a:solidFill>
                  <a:srgbClr val="64748B"/>
                </a:solidFill>
                <a:latin typeface="Calibri" pitchFamily="34" charset="0"/>
              </a:rPr>
              <a:t xml:space="preserve"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"/>
          <p:cNvSpPr/>
          <p:nvPr/>
        </p:nvSpPr>
        <p:spPr>
          <a:xfrm>
            <a:off x="0" y="0"/>
            <a:ext cx="12192000" cy="118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gold"/>
          <p:cNvSpPr/>
          <p:nvPr/>
        </p:nvSpPr>
        <p:spPr>
          <a:xfrm>
            <a:off x="0" y="1180000"/>
            <a:ext cx="12192000" cy="50000"/>
          </a:xfrm>
          <a:prstGeom prst="roundRect">
            <a:avLst>
              <a:gd name="adj" fmla="val 6000"/>
            </a:avLst>
          </a:prstGeom>
          <a:solidFill>
            <a:srgbClr val="C5A4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420000" y="220000"/>
            <a:ext cx="11000000" cy="5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 xml:space="preserve">Testing / assurance posture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000" y="740000"/>
            <a:ext cx="11000000" cy="3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1200" b="0" dirty="0">
                <a:solidFill>
                  <a:srgbClr val="CBD5E1"/>
                </a:solidFill>
                <a:latin typeface="Calibri" pitchFamily="34" charset="0"/>
              </a:rPr>
              <a:t xml:space="preserve">Results are recorded by humans. None are invented.</a:t>
            </a:r>
          </a:p>
        </p:txBody>
      </p:sp>
      <p:sp>
        <p:nvSpPr>
          <p:cNvPr id="10" name="k10"/>
          <p:cNvSpPr/>
          <p:nvPr/>
        </p:nvSpPr>
        <p:spPr>
          <a:xfrm>
            <a:off x="4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4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1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4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Tests recorded</a:t>
            </a:r>
          </a:p>
        </p:txBody>
      </p:sp>
      <p:sp>
        <p:nvSpPr>
          <p:cNvPr id="20" name="k20"/>
          <p:cNvSpPr/>
          <p:nvPr/>
        </p:nvSpPr>
        <p:spPr>
          <a:xfrm>
            <a:off x="31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21"/>
          <p:cNvSpPr txBox="1"/>
          <p:nvPr/>
        </p:nvSpPr>
        <p:spPr>
          <a:xfrm>
            <a:off x="31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1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31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Not tested</a:t>
            </a:r>
          </a:p>
        </p:txBody>
      </p:sp>
      <p:sp>
        <p:nvSpPr>
          <p:cNvPr id="30" name="k30"/>
          <p:cNvSpPr/>
          <p:nvPr/>
        </p:nvSpPr>
        <p:spPr>
          <a:xfrm>
            <a:off x="58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31"/>
          <p:cNvSpPr txBox="1"/>
          <p:nvPr/>
        </p:nvSpPr>
        <p:spPr>
          <a:xfrm>
            <a:off x="58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0</a:t>
            </a:r>
          </a:p>
        </p:txBody>
      </p:sp>
      <p:sp>
        <p:nvSpPr>
          <p:cNvPr id="32" name="t32"/>
          <p:cNvSpPr txBox="1"/>
          <p:nvPr/>
        </p:nvSpPr>
        <p:spPr>
          <a:xfrm>
            <a:off x="58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Failed tests</a:t>
            </a:r>
          </a:p>
        </p:txBody>
      </p:sp>
      <p:sp>
        <p:nvSpPr>
          <p:cNvPr id="40" name="k40"/>
          <p:cNvSpPr/>
          <p:nvPr/>
        </p:nvSpPr>
        <p:spPr>
          <a:xfrm>
            <a:off x="85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41"/>
          <p:cNvSpPr txBox="1"/>
          <p:nvPr/>
        </p:nvSpPr>
        <p:spPr>
          <a:xfrm>
            <a:off x="85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Human</a:t>
            </a:r>
          </a:p>
        </p:txBody>
      </p:sp>
      <p:sp>
        <p:nvSpPr>
          <p:cNvPr id="42" name="t42"/>
          <p:cNvSpPr txBox="1"/>
          <p:nvPr/>
        </p:nvSpPr>
        <p:spPr>
          <a:xfrm>
            <a:off x="85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Result source</a:t>
            </a:r>
          </a:p>
        </p:txBody>
      </p:sp>
      <p:sp>
        <p:nvSpPr>
          <p:cNvPr id="60" name="n60"/>
          <p:cNvSpPr txBox="1"/>
          <p:nvPr/>
        </p:nvSpPr>
        <p:spPr>
          <a:xfrm>
            <a:off x="420000" y="3200000"/>
            <a:ext cx="11300000" cy="330000"/>
          </a:xfrm>
          <a:prstGeom prst="rect">
            <a:avLst/>
          </a:prstGeom>
          <a:noFill/>
        </p:spPr>
        <p:txBody>
          <a:bodyPr wrap="square" anchor="t" lIns="45720" tIns="8000" rIns="45720" bIns="8000"/>
          <a:lstStyle/>
          <a:p>
            <a:pPr algn="l"/>
            <a:r>
              <a:rPr lang="en-US" sz="1300" b="0" dirty="0">
                <a:solidFill>
                  <a:srgbClr val="0F172A"/>
                </a:solidFill>
                <a:latin typeface="Calibri" pitchFamily="34" charset="0"/>
              </a:rPr>
              <a:t xml:space="preserve">TST-00001 BIAS_FAIRNESS · NOT_TESTED</a:t>
            </a:r>
          </a:p>
        </p:txBody>
      </p:sp>
      <p:sp>
        <p:nvSpPr>
          <p:cNvPr id="900" name="ft"/>
          <p:cNvSpPr/>
          <p:nvPr/>
        </p:nvSpPr>
        <p:spPr>
          <a:xfrm>
            <a:off x="0" y="6520000"/>
            <a:ext cx="12192000" cy="34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t901"/>
          <p:cNvSpPr txBox="1"/>
          <p:nvPr/>
        </p:nvSpPr>
        <p:spPr>
          <a:xfrm>
            <a:off x="360000" y="6560000"/>
            <a:ext cx="7800000" cy="2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900" b="0" dirty="0">
                <a:solidFill>
                  <a:srgbClr val="64748B"/>
                </a:solidFill>
                <a:latin typeface="Calibri" pitchFamily="34" charset="0"/>
              </a:rPr>
              <a:t xml:space="preserve">Supreme AI Governance Board Report · Confidential · Not legal advice</a:t>
            </a:r>
          </a:p>
        </p:txBody>
      </p:sp>
      <p:sp>
        <p:nvSpPr>
          <p:cNvPr id="902" name="t902"/>
          <p:cNvSpPr txBox="1"/>
          <p:nvPr/>
        </p:nvSpPr>
        <p:spPr>
          <a:xfrm>
            <a:off x="10400000" y="6560000"/>
            <a:ext cx="1400000" cy="2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r"/>
            <a:r>
              <a:rPr lang="en-US" sz="900" b="0" dirty="0">
                <a:solidFill>
                  <a:srgbClr val="64748B"/>
                </a:solidFill>
                <a:latin typeface="Calibri" pitchFamily="34" charset="0"/>
              </a:rPr>
              <a:t xml:space="preserve"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"/>
          <p:cNvSpPr/>
          <p:nvPr/>
        </p:nvSpPr>
        <p:spPr>
          <a:xfrm>
            <a:off x="0" y="0"/>
            <a:ext cx="12192000" cy="118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gold"/>
          <p:cNvSpPr/>
          <p:nvPr/>
        </p:nvSpPr>
        <p:spPr>
          <a:xfrm>
            <a:off x="0" y="1180000"/>
            <a:ext cx="12192000" cy="50000"/>
          </a:xfrm>
          <a:prstGeom prst="roundRect">
            <a:avLst>
              <a:gd name="adj" fmla="val 6000"/>
            </a:avLst>
          </a:prstGeom>
          <a:solidFill>
            <a:srgbClr val="C5A4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420000" y="220000"/>
            <a:ext cx="11000000" cy="5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 xml:space="preserve">Incidents / issues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000" y="740000"/>
            <a:ext cx="11000000" cy="3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1200" b="0" dirty="0">
                <a:solidFill>
                  <a:srgbClr val="CBD5E1"/>
                </a:solidFill>
                <a:latin typeface="Calibri" pitchFamily="34" charset="0"/>
              </a:rPr>
              <a:t xml:space="preserve">Human-authoritative closure only.</a:t>
            </a:r>
          </a:p>
        </p:txBody>
      </p:sp>
      <p:sp>
        <p:nvSpPr>
          <p:cNvPr id="10" name="k10"/>
          <p:cNvSpPr/>
          <p:nvPr/>
        </p:nvSpPr>
        <p:spPr>
          <a:xfrm>
            <a:off x="4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4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1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4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Open incidents</a:t>
            </a:r>
          </a:p>
        </p:txBody>
      </p:sp>
      <p:sp>
        <p:nvSpPr>
          <p:cNvPr id="20" name="k20"/>
          <p:cNvSpPr/>
          <p:nvPr/>
        </p:nvSpPr>
        <p:spPr>
          <a:xfrm>
            <a:off x="31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21"/>
          <p:cNvSpPr txBox="1"/>
          <p:nvPr/>
        </p:nvSpPr>
        <p:spPr>
          <a:xfrm>
            <a:off x="31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1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31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Recorded incidents</a:t>
            </a:r>
          </a:p>
        </p:txBody>
      </p:sp>
      <p:sp>
        <p:nvSpPr>
          <p:cNvPr id="30" name="k30"/>
          <p:cNvSpPr/>
          <p:nvPr/>
        </p:nvSpPr>
        <p:spPr>
          <a:xfrm>
            <a:off x="58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31"/>
          <p:cNvSpPr txBox="1"/>
          <p:nvPr/>
        </p:nvSpPr>
        <p:spPr>
          <a:xfrm>
            <a:off x="58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0</a:t>
            </a:r>
          </a:p>
        </p:txBody>
      </p:sp>
      <p:sp>
        <p:nvSpPr>
          <p:cNvPr id="32" name="t32"/>
          <p:cNvSpPr txBox="1"/>
          <p:nvPr/>
        </p:nvSpPr>
        <p:spPr>
          <a:xfrm>
            <a:off x="58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Active exceptions</a:t>
            </a:r>
          </a:p>
        </p:txBody>
      </p:sp>
      <p:sp>
        <p:nvSpPr>
          <p:cNvPr id="40" name="k40"/>
          <p:cNvSpPr/>
          <p:nvPr/>
        </p:nvSpPr>
        <p:spPr>
          <a:xfrm>
            <a:off x="85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41"/>
          <p:cNvSpPr txBox="1"/>
          <p:nvPr/>
        </p:nvSpPr>
        <p:spPr>
          <a:xfrm>
            <a:off x="85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Human</a:t>
            </a:r>
          </a:p>
        </p:txBody>
      </p:sp>
      <p:sp>
        <p:nvSpPr>
          <p:cNvPr id="42" name="t42"/>
          <p:cNvSpPr txBox="1"/>
          <p:nvPr/>
        </p:nvSpPr>
        <p:spPr>
          <a:xfrm>
            <a:off x="85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Closure</a:t>
            </a:r>
          </a:p>
        </p:txBody>
      </p:sp>
      <p:sp>
        <p:nvSpPr>
          <p:cNvPr id="60" name="n60"/>
          <p:cNvSpPr txBox="1"/>
          <p:nvPr/>
        </p:nvSpPr>
        <p:spPr>
          <a:xfrm>
            <a:off x="420000" y="3200000"/>
            <a:ext cx="11300000" cy="330000"/>
          </a:xfrm>
          <a:prstGeom prst="rect">
            <a:avLst/>
          </a:prstGeom>
          <a:noFill/>
        </p:spPr>
        <p:txBody>
          <a:bodyPr wrap="square" anchor="t" lIns="45720" tIns="8000" rIns="45720" bIns="8000"/>
          <a:lstStyle/>
          <a:p>
            <a:pPr algn="l"/>
            <a:r>
              <a:rPr lang="en-US" sz="1300" b="0" dirty="0">
                <a:solidFill>
                  <a:srgbClr val="0F172A"/>
                </a:solidFill>
                <a:latin typeface="Calibri" pitchFamily="34" charset="0"/>
              </a:rPr>
              <a:t xml:space="preserve">AIN-00001 Incorrect claim-routing suggestion · OPEN</a:t>
            </a:r>
          </a:p>
        </p:txBody>
      </p:sp>
      <p:sp>
        <p:nvSpPr>
          <p:cNvPr id="900" name="ft"/>
          <p:cNvSpPr/>
          <p:nvPr/>
        </p:nvSpPr>
        <p:spPr>
          <a:xfrm>
            <a:off x="0" y="6520000"/>
            <a:ext cx="12192000" cy="34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t901"/>
          <p:cNvSpPr txBox="1"/>
          <p:nvPr/>
        </p:nvSpPr>
        <p:spPr>
          <a:xfrm>
            <a:off x="360000" y="6560000"/>
            <a:ext cx="7800000" cy="2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900" b="0" dirty="0">
                <a:solidFill>
                  <a:srgbClr val="64748B"/>
                </a:solidFill>
                <a:latin typeface="Calibri" pitchFamily="34" charset="0"/>
              </a:rPr>
              <a:t xml:space="preserve">Supreme AI Governance Board Report · Confidential · Not legal advice</a:t>
            </a:r>
          </a:p>
        </p:txBody>
      </p:sp>
      <p:sp>
        <p:nvSpPr>
          <p:cNvPr id="902" name="t902"/>
          <p:cNvSpPr txBox="1"/>
          <p:nvPr/>
        </p:nvSpPr>
        <p:spPr>
          <a:xfrm>
            <a:off x="10400000" y="6560000"/>
            <a:ext cx="1400000" cy="2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r"/>
            <a:r>
              <a:rPr lang="en-US" sz="900" b="0" dirty="0">
                <a:solidFill>
                  <a:srgbClr val="64748B"/>
                </a:solidFill>
                <a:latin typeface="Calibri" pitchFamily="34" charset="0"/>
              </a:rPr>
              <a:t xml:space="preserve"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"/>
          <p:cNvSpPr/>
          <p:nvPr/>
        </p:nvSpPr>
        <p:spPr>
          <a:xfrm>
            <a:off x="0" y="0"/>
            <a:ext cx="12192000" cy="118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gold"/>
          <p:cNvSpPr/>
          <p:nvPr/>
        </p:nvSpPr>
        <p:spPr>
          <a:xfrm>
            <a:off x="0" y="1180000"/>
            <a:ext cx="12192000" cy="50000"/>
          </a:xfrm>
          <a:prstGeom prst="roundRect">
            <a:avLst>
              <a:gd name="adj" fmla="val 6000"/>
            </a:avLst>
          </a:prstGeom>
          <a:solidFill>
            <a:srgbClr val="C5A4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420000" y="220000"/>
            <a:ext cx="11000000" cy="5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 xml:space="preserve">Regulatory / framework readiness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000" y="740000"/>
            <a:ext cx="11000000" cy="3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1200" b="0" dirty="0">
                <a:solidFill>
                  <a:srgbClr val="CBD5E1"/>
                </a:solidFill>
                <a:latin typeface="Calibri" pitchFamily="34" charset="0"/>
              </a:rPr>
              <a:t xml:space="preserve">Potential applicability. Review required. No certification claim.</a:t>
            </a:r>
          </a:p>
        </p:txBody>
      </p:sp>
      <p:sp>
        <p:nvSpPr>
          <p:cNvPr id="10" name="k10"/>
          <p:cNvSpPr/>
          <p:nvPr/>
        </p:nvSpPr>
        <p:spPr>
          <a:xfrm>
            <a:off x="4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4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1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4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Reviews recorded</a:t>
            </a:r>
          </a:p>
        </p:txBody>
      </p:sp>
      <p:sp>
        <p:nvSpPr>
          <p:cNvPr id="20" name="k20"/>
          <p:cNvSpPr/>
          <p:nvPr/>
        </p:nvSpPr>
        <p:spPr>
          <a:xfrm>
            <a:off x="31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21"/>
          <p:cNvSpPr txBox="1"/>
          <p:nvPr/>
        </p:nvSpPr>
        <p:spPr>
          <a:xfrm>
            <a:off x="31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000" b="1" dirty="0">
                <a:solidFill>
                  <a:srgbClr val="0F172A"/>
                </a:solidFill>
                <a:latin typeface="Calibri" pitchFamily="34" charset="0"/>
              </a:rPr>
              <a:t xml:space="preserve">NIST AI RMF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31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Reference pack</a:t>
            </a:r>
          </a:p>
        </p:txBody>
      </p:sp>
      <p:sp>
        <p:nvSpPr>
          <p:cNvPr id="30" name="k30"/>
          <p:cNvSpPr/>
          <p:nvPr/>
        </p:nvSpPr>
        <p:spPr>
          <a:xfrm>
            <a:off x="58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31"/>
          <p:cNvSpPr txBox="1"/>
          <p:nvPr/>
        </p:nvSpPr>
        <p:spPr>
          <a:xfrm>
            <a:off x="58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000" b="1" dirty="0">
                <a:solidFill>
                  <a:srgbClr val="0F172A"/>
                </a:solidFill>
                <a:latin typeface="Calibri" pitchFamily="34" charset="0"/>
              </a:rPr>
              <a:t xml:space="preserve">ISO 42001</a:t>
            </a:r>
          </a:p>
        </p:txBody>
      </p:sp>
      <p:sp>
        <p:nvSpPr>
          <p:cNvPr id="32" name="t32"/>
          <p:cNvSpPr txBox="1"/>
          <p:nvPr/>
        </p:nvSpPr>
        <p:spPr>
          <a:xfrm>
            <a:off x="58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Readiness only</a:t>
            </a:r>
          </a:p>
        </p:txBody>
      </p:sp>
      <p:sp>
        <p:nvSpPr>
          <p:cNvPr id="40" name="k40"/>
          <p:cNvSpPr/>
          <p:nvPr/>
        </p:nvSpPr>
        <p:spPr>
          <a:xfrm>
            <a:off x="8520000" y="1680000"/>
            <a:ext cx="2500000" cy="128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41"/>
          <p:cNvSpPr txBox="1"/>
          <p:nvPr/>
        </p:nvSpPr>
        <p:spPr>
          <a:xfrm>
            <a:off x="8520000" y="1780000"/>
            <a:ext cx="2500000" cy="64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2800" b="1" dirty="0">
                <a:solidFill>
                  <a:srgbClr val="0F172A"/>
                </a:solidFill>
                <a:latin typeface="Calibri" pitchFamily="34" charset="0"/>
              </a:rPr>
              <a:t xml:space="preserve">None</a:t>
            </a:r>
          </a:p>
        </p:txBody>
      </p:sp>
      <p:sp>
        <p:nvSpPr>
          <p:cNvPr id="42" name="t42"/>
          <p:cNvSpPr txBox="1"/>
          <p:nvPr/>
        </p:nvSpPr>
        <p:spPr>
          <a:xfrm>
            <a:off x="8520000" y="2420000"/>
            <a:ext cx="2500000" cy="4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 pitchFamily="34" charset="0"/>
              </a:rPr>
              <a:t xml:space="preserve">Certification claimed</a:t>
            </a:r>
          </a:p>
        </p:txBody>
      </p:sp>
      <p:sp>
        <p:nvSpPr>
          <p:cNvPr id="60" name="n60"/>
          <p:cNvSpPr txBox="1"/>
          <p:nvPr/>
        </p:nvSpPr>
        <p:spPr>
          <a:xfrm>
            <a:off x="420000" y="3200000"/>
            <a:ext cx="11300000" cy="330000"/>
          </a:xfrm>
          <a:prstGeom prst="rect">
            <a:avLst/>
          </a:prstGeom>
          <a:noFill/>
        </p:spPr>
        <p:txBody>
          <a:bodyPr wrap="square" anchor="t" lIns="45720" tIns="8000" rIns="45720" bIns="8000"/>
          <a:lstStyle/>
          <a:p>
            <a:pPr algn="l"/>
            <a:r>
              <a:rPr lang="en-US" sz="1300" b="0" dirty="0">
                <a:solidFill>
                  <a:srgbClr val="0F172A"/>
                </a:solidFill>
                <a:latin typeface="Calibri" pitchFamily="34" charset="0"/>
              </a:rPr>
              <a:t xml:space="preserve">REG-00001 EU AI Act · IN_REVIEW</a:t>
            </a:r>
          </a:p>
        </p:txBody>
      </p:sp>
      <p:sp>
        <p:nvSpPr>
          <p:cNvPr id="900" name="ft"/>
          <p:cNvSpPr/>
          <p:nvPr/>
        </p:nvSpPr>
        <p:spPr>
          <a:xfrm>
            <a:off x="0" y="6520000"/>
            <a:ext cx="12192000" cy="34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t901"/>
          <p:cNvSpPr txBox="1"/>
          <p:nvPr/>
        </p:nvSpPr>
        <p:spPr>
          <a:xfrm>
            <a:off x="360000" y="6560000"/>
            <a:ext cx="7800000" cy="2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900" b="0" dirty="0">
                <a:solidFill>
                  <a:srgbClr val="64748B"/>
                </a:solidFill>
                <a:latin typeface="Calibri" pitchFamily="34" charset="0"/>
              </a:rPr>
              <a:t xml:space="preserve">Supreme AI Governance Board Report · Confidential · Not legal advice</a:t>
            </a:r>
          </a:p>
        </p:txBody>
      </p:sp>
      <p:sp>
        <p:nvSpPr>
          <p:cNvPr id="902" name="t902"/>
          <p:cNvSpPr txBox="1"/>
          <p:nvPr/>
        </p:nvSpPr>
        <p:spPr>
          <a:xfrm>
            <a:off x="10400000" y="6560000"/>
            <a:ext cx="1400000" cy="2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r"/>
            <a:r>
              <a:rPr lang="en-US" sz="900" b="0" dirty="0">
                <a:solidFill>
                  <a:srgbClr val="64748B"/>
                </a:solidFill>
                <a:latin typeface="Calibri" pitchFamily="34" charset="0"/>
              </a:rPr>
              <a:t xml:space="preserve"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"/>
          <p:cNvSpPr/>
          <p:nvPr/>
        </p:nvSpPr>
        <p:spPr>
          <a:xfrm>
            <a:off x="0" y="0"/>
            <a:ext cx="12192000" cy="118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gold"/>
          <p:cNvSpPr/>
          <p:nvPr/>
        </p:nvSpPr>
        <p:spPr>
          <a:xfrm>
            <a:off x="0" y="1180000"/>
            <a:ext cx="12192000" cy="50000"/>
          </a:xfrm>
          <a:prstGeom prst="roundRect">
            <a:avLst>
              <a:gd name="adj" fmla="val 6000"/>
            </a:avLst>
          </a:prstGeom>
          <a:solidFill>
            <a:srgbClr val="C5A4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420000" y="220000"/>
            <a:ext cx="11000000" cy="5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 xml:space="preserve">Key decisions required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000" y="740000"/>
            <a:ext cx="11000000" cy="3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1200" b="0" dirty="0">
                <a:solidFill>
                  <a:srgbClr val="CBD5E1"/>
                </a:solidFill>
                <a:latin typeface="Calibri" pitchFamily="34" charset="0"/>
              </a:rPr>
              <a:t xml:space="preserve">Human-authoritative. Supreme does not issue legal conclusions.</a:t>
            </a:r>
          </a:p>
        </p:txBody>
      </p:sp>
      <p:sp>
        <p:nvSpPr>
          <p:cNvPr id="20" name="n20"/>
          <p:cNvSpPr txBox="1"/>
          <p:nvPr/>
        </p:nvSpPr>
        <p:spPr>
          <a:xfrm>
            <a:off x="420000" y="1680000"/>
            <a:ext cx="11300000" cy="330000"/>
          </a:xfrm>
          <a:prstGeom prst="rect">
            <a:avLst/>
          </a:prstGeom>
          <a:noFill/>
        </p:spPr>
        <p:txBody>
          <a:bodyPr wrap="square" anchor="t" lIns="45720" tIns="8000" rIns="45720" bIns="8000"/>
          <a:lstStyle/>
          <a:p>
            <a:pPr algn="l"/>
            <a:r>
              <a:rPr lang="en-US" sz="1300" b="0" dirty="0">
                <a:solidFill>
                  <a:srgbClr val="0F172A"/>
                </a:solidFill>
                <a:latin typeface="Calibri" pitchFamily="34" charset="0"/>
              </a:rPr>
              <a:t xml:space="preserve">AI-00001 AI without owner — AI-00001 has no recorded owner.</a:t>
            </a:r>
          </a:p>
        </p:txBody>
      </p:sp>
      <p:sp>
        <p:nvSpPr>
          <p:cNvPr id="21" name="n21"/>
          <p:cNvSpPr txBox="1"/>
          <p:nvPr/>
        </p:nvSpPr>
        <p:spPr>
          <a:xfrm>
            <a:off x="420000" y="2080000"/>
            <a:ext cx="11300000" cy="330000"/>
          </a:xfrm>
          <a:prstGeom prst="rect">
            <a:avLst/>
          </a:prstGeom>
          <a:noFill/>
        </p:spPr>
        <p:txBody>
          <a:bodyPr wrap="square" anchor="t" lIns="45720" tIns="8000" rIns="45720" bIns="8000"/>
          <a:lstStyle/>
          <a:p>
            <a:pPr algn="l"/>
            <a:r>
              <a:rPr lang="en-US" sz="1300" b="0" dirty="0">
                <a:solidFill>
                  <a:srgbClr val="0F172A"/>
                </a:solidFill>
                <a:latin typeface="Calibri" pitchFamily="34" charset="0"/>
              </a:rPr>
              <a:t xml:space="preserve">AIN-00001 Open incident — AIN-00001 remains open.</a:t>
            </a:r>
          </a:p>
        </p:txBody>
      </p:sp>
      <p:sp>
        <p:nvSpPr>
          <p:cNvPr id="900" name="ft"/>
          <p:cNvSpPr/>
          <p:nvPr/>
        </p:nvSpPr>
        <p:spPr>
          <a:xfrm>
            <a:off x="0" y="6520000"/>
            <a:ext cx="12192000" cy="34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t901"/>
          <p:cNvSpPr txBox="1"/>
          <p:nvPr/>
        </p:nvSpPr>
        <p:spPr>
          <a:xfrm>
            <a:off x="360000" y="6560000"/>
            <a:ext cx="7800000" cy="2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900" b="0" dirty="0">
                <a:solidFill>
                  <a:srgbClr val="64748B"/>
                </a:solidFill>
                <a:latin typeface="Calibri" pitchFamily="34" charset="0"/>
              </a:rPr>
              <a:t xml:space="preserve">Supreme AI Governance Board Report · Confidential · Not legal advice</a:t>
            </a:r>
          </a:p>
        </p:txBody>
      </p:sp>
      <p:sp>
        <p:nvSpPr>
          <p:cNvPr id="902" name="t902"/>
          <p:cNvSpPr txBox="1"/>
          <p:nvPr/>
        </p:nvSpPr>
        <p:spPr>
          <a:xfrm>
            <a:off x="10400000" y="6560000"/>
            <a:ext cx="1400000" cy="2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r"/>
            <a:r>
              <a:rPr lang="en-US" sz="900" b="0" dirty="0">
                <a:solidFill>
                  <a:srgbClr val="64748B"/>
                </a:solidFill>
                <a:latin typeface="Calibri" pitchFamily="34" charset="0"/>
              </a:rPr>
              <a:t xml:space="preserve"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"/>
          <p:cNvSpPr/>
          <p:nvPr/>
        </p:nvSpPr>
        <p:spPr>
          <a:xfrm>
            <a:off x="0" y="0"/>
            <a:ext cx="12192000" cy="118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gold"/>
          <p:cNvSpPr/>
          <p:nvPr/>
        </p:nvSpPr>
        <p:spPr>
          <a:xfrm>
            <a:off x="0" y="1180000"/>
            <a:ext cx="12192000" cy="50000"/>
          </a:xfrm>
          <a:prstGeom prst="roundRect">
            <a:avLst>
              <a:gd name="adj" fmla="val 6000"/>
            </a:avLst>
          </a:prstGeom>
          <a:solidFill>
            <a:srgbClr val="C5A4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420000" y="220000"/>
            <a:ext cx="11000000" cy="5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 xml:space="preserve">Priority actions / next 90 days</a:t>
            </a:r>
          </a:p>
        </p:txBody>
      </p:sp>
      <p:sp>
        <p:nvSpPr>
          <p:cNvPr id="6" name="t6"/>
          <p:cNvSpPr txBox="1"/>
          <p:nvPr/>
        </p:nvSpPr>
        <p:spPr>
          <a:xfrm>
            <a:off x="420000" y="740000"/>
            <a:ext cx="11000000" cy="32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1200" b="0" dirty="0">
                <a:solidFill>
                  <a:srgbClr val="CBD5E1"/>
                </a:solidFill>
                <a:latin typeface="Calibri" pitchFamily="34" charset="0"/>
              </a:rPr>
              <a:t xml:space="preserve">Taken from the live attention queue. No invented program.</a:t>
            </a:r>
          </a:p>
        </p:txBody>
      </p:sp>
      <p:sp>
        <p:nvSpPr>
          <p:cNvPr id="20" name="n20"/>
          <p:cNvSpPr txBox="1"/>
          <p:nvPr/>
        </p:nvSpPr>
        <p:spPr>
          <a:xfrm>
            <a:off x="420000" y="1680000"/>
            <a:ext cx="11300000" cy="330000"/>
          </a:xfrm>
          <a:prstGeom prst="rect">
            <a:avLst/>
          </a:prstGeom>
          <a:noFill/>
        </p:spPr>
        <p:txBody>
          <a:bodyPr wrap="square" anchor="t" lIns="45720" tIns="8000" rIns="45720" bIns="8000"/>
          <a:lstStyle/>
          <a:p>
            <a:pPr algn="l"/>
            <a:r>
              <a:rPr lang="en-US" sz="1300" b="0" dirty="0">
                <a:solidFill>
                  <a:srgbClr val="0F172A"/>
                </a:solidFill>
                <a:latin typeface="Calibri" pitchFamily="34" charset="0"/>
              </a:rPr>
              <a:t xml:space="preserve">1. Review AI-00001 — AI without owner. AI-00001 has no recorded owner.</a:t>
            </a:r>
          </a:p>
        </p:txBody>
      </p:sp>
      <p:sp>
        <p:nvSpPr>
          <p:cNvPr id="21" name="n21"/>
          <p:cNvSpPr txBox="1"/>
          <p:nvPr/>
        </p:nvSpPr>
        <p:spPr>
          <a:xfrm>
            <a:off x="420000" y="2080000"/>
            <a:ext cx="11300000" cy="330000"/>
          </a:xfrm>
          <a:prstGeom prst="rect">
            <a:avLst/>
          </a:prstGeom>
          <a:noFill/>
        </p:spPr>
        <p:txBody>
          <a:bodyPr wrap="square" anchor="t" lIns="45720" tIns="8000" rIns="45720" bIns="8000"/>
          <a:lstStyle/>
          <a:p>
            <a:pPr algn="l"/>
            <a:r>
              <a:rPr lang="en-US" sz="1300" b="0" dirty="0">
                <a:solidFill>
                  <a:srgbClr val="0F172A"/>
                </a:solidFill>
                <a:latin typeface="Calibri" pitchFamily="34" charset="0"/>
              </a:rPr>
              <a:t xml:space="preserve">2. Review AIN-00001 — Open incident. AIN-00001 remains open.</a:t>
            </a:r>
          </a:p>
        </p:txBody>
      </p:sp>
      <p:sp>
        <p:nvSpPr>
          <p:cNvPr id="80" name="t80"/>
          <p:cNvSpPr txBox="1"/>
          <p:nvPr/>
        </p:nvSpPr>
        <p:spPr>
          <a:xfrm>
            <a:off x="420000" y="5600000"/>
            <a:ext cx="11000000" cy="3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1200" b="0" dirty="0">
                <a:solidFill>
                  <a:srgbClr val="64748B"/>
                </a:solidFill>
                <a:latin typeface="Calibri" pitchFamily="34" charset="0"/>
              </a:rPr>
              <a:t xml:space="preserve">Monitoring remains manual / not configured. No invented drift. No trend available.</a:t>
            </a:r>
          </a:p>
        </p:txBody>
      </p:sp>
      <p:sp>
        <p:nvSpPr>
          <p:cNvPr id="900" name="ft"/>
          <p:cNvSpPr/>
          <p:nvPr/>
        </p:nvSpPr>
        <p:spPr>
          <a:xfrm>
            <a:off x="0" y="6520000"/>
            <a:ext cx="12192000" cy="34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t901"/>
          <p:cNvSpPr txBox="1"/>
          <p:nvPr/>
        </p:nvSpPr>
        <p:spPr>
          <a:xfrm>
            <a:off x="360000" y="6560000"/>
            <a:ext cx="7800000" cy="2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l"/>
            <a:r>
              <a:rPr lang="en-US" sz="900" b="0" dirty="0">
                <a:solidFill>
                  <a:srgbClr val="64748B"/>
                </a:solidFill>
                <a:latin typeface="Calibri" pitchFamily="34" charset="0"/>
              </a:rPr>
              <a:t xml:space="preserve">Supreme AI Governance Board Report · Confidential · Not legal advice</a:t>
            </a:r>
          </a:p>
        </p:txBody>
      </p:sp>
      <p:sp>
        <p:nvSpPr>
          <p:cNvPr id="902" name="t902"/>
          <p:cNvSpPr txBox="1"/>
          <p:nvPr/>
        </p:nvSpPr>
        <p:spPr>
          <a:xfrm>
            <a:off x="10400000" y="6560000"/>
            <a:ext cx="1400000" cy="260000"/>
          </a:xfrm>
          <a:prstGeom prst="rect">
            <a:avLst/>
          </a:prstGeom>
          <a:noFill/>
        </p:spPr>
        <p:txBody>
          <a:bodyPr wrap="square" anchor="t" lIns="45720" tIns="22860" rIns="45720" bIns="22860"/>
          <a:lstStyle/>
          <a:p>
            <a:pPr algn="r"/>
            <a:r>
              <a:rPr lang="en-US" sz="900" b="0" dirty="0">
                <a:solidFill>
                  <a:srgbClr val="64748B"/>
                </a:solidFill>
                <a:latin typeface="Calibri" pitchFamily="34" charset="0"/>
              </a:rPr>
              <a:t xml:space="preserve"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preme Board">
  <a:themeElements>
    <a:clrScheme name="Supreme">
      <a:dk1>
        <a:srgbClr val="0F172A"/>
      </a:dk1>
      <a:lt1>
        <a:srgbClr val="FFFFFF"/>
      </a:lt1>
      <a:dk2>
        <a:srgbClr val="1E293B"/>
      </a:dk2>
      <a:lt2>
        <a:srgbClr val="F8FAFC"/>
      </a:lt2>
      <a:accent1>
        <a:srgbClr val="C5A46E"/>
      </a:accent1>
      <a:accent2>
        <a:srgbClr val="334155"/>
      </a:accent2>
      <a:accent3>
        <a:srgbClr val="475569"/>
      </a:accent3>
      <a:accent4>
        <a:srgbClr val="94A3B8"/>
      </a:accent4>
      <a:accent5>
        <a:srgbClr val="CBD5E1"/>
      </a:accent5>
      <a:accent6>
        <a:srgbClr val="E2E8F0"/>
      </a:accent6>
      <a:hlink>
        <a:srgbClr val="2563EB"/>
      </a:hlink>
      <a:folHlink>
        <a:srgbClr val="7C3AED"/>
      </a:folHlink>
    </a:clrScheme>
    <a:fontScheme name="Supr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upr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atMod val="600000"/>
              </a:schemeClr>
            </a:gs>
            <a:gs pos="100000">
              <a:schemeClr val="phClr">
                <a:shade val="100000"/>
                <a:satMod val="20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91000"/>
              </a:schemeClr>
            </a:gs>
          </a:gsLst>
          <a:lin ang="5400000" scaled="0"/>
        </a:gradFill>
      </a:bgFillStyleLst>
    </a:fmtScheme>
  </a:themeElements>
</a:theme>
</file>