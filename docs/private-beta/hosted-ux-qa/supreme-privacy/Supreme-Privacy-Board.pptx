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officeDocument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gold"/>
          <p:cNvSpPr/>
          <p:nvPr/>
        </p:nvSpPr>
        <p:spPr>
          <a:xfrm>
            <a:off x="420000" y="2100000"/>
            <a:ext cx="1800000" cy="7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420000" y="228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1" dirty="0">
                <a:solidFill>
                  <a:srgbClr val="C5A46E"/>
                </a:solidFill>
              </a:rPr>
              <a:t>SUPREME PRIVACY</a:t>
            </a:r>
          </a:p>
        </p:txBody>
      </p:sp>
      <p:sp>
        <p:nvSpPr>
          <p:cNvPr id="5" name="t5"/>
          <p:cNvSpPr txBox="1"/>
          <p:nvPr/>
        </p:nvSpPr>
        <p:spPr>
          <a:xfrm>
            <a:off x="420000" y="2700000"/>
            <a:ext cx="110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Board Risk Committee report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348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800" b="0" dirty="0">
                <a:solidFill>
                  <a:srgbClr val="E2E8F0"/>
                </a:solidFill>
              </a:rPr>
              <a:t>Elite Claims</a:t>
            </a:r>
          </a:p>
        </p:txBody>
      </p:sp>
      <p:sp>
        <p:nvSpPr>
          <p:cNvPr id="7" name="t7"/>
          <p:cNvSpPr txBox="1"/>
          <p:nvPr/>
        </p:nvSpPr>
        <p:spPr>
          <a:xfrm>
            <a:off x="420000" y="400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0" dirty="0">
                <a:solidFill>
                  <a:srgbClr val="94A3B8"/>
                </a:solidFill>
              </a:rPr>
              <a:t>2026-09-13  ·  Live tenant records only  ·  No trend available</a:t>
            </a:r>
          </a:p>
        </p:txBody>
      </p:sp>
      <p:sp>
        <p:nvSpPr>
          <p:cNvPr id="8" name="t8"/>
          <p:cNvSpPr txBox="1"/>
          <p:nvPr/>
        </p:nvSpPr>
        <p:spPr>
          <a:xfrm>
            <a:off x="420000" y="548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Prepared for CPO, DPO, General Counsel, CISO, CRO, and the Board Risk Committee.</a:t>
            </a:r>
          </a:p>
        </p:txBody>
      </p:sp>
      <p:sp>
        <p:nvSpPr>
          <p:cNvPr id="9" name="t9"/>
          <p:cNvSpPr txBox="1"/>
          <p:nvPr/>
        </p:nvSpPr>
        <p:spPr>
          <a:xfrm>
            <a:off x="420000" y="5880000"/>
            <a:ext cx="110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000" b="0" dirty="0">
                <a:solidFill>
                  <a:srgbClr val="94A3B8"/>
                </a:solidFill>
              </a:rPr>
              <a:t>A recorded legal basis is not a finding that processing is lawful. A DPIA is not a claim that GDPR is satisfied. A configured deadline is not legal advice. A closed deletion task is not proof the data is gone. Consent 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Privacy posture at a glance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Recorded operations, not a finding that processing is lawful.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Active processing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Open rights requests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Transfers in review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High-risk processing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420000" y="3180000"/>
            <a:ext cx="1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64748B"/>
                </a:solidFill>
              </a:rPr>
              <a:t>No trend available. Supreme does not invent arrows when history is insufficient.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600000"/>
            <a:ext cx="3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475569"/>
                </a:solidFill>
              </a:rPr>
              <a:t>Active processing  3</a:t>
            </a:r>
          </a:p>
        </p:txBody>
      </p:sp>
      <p:sp>
        <p:nvSpPr>
          <p:cNvPr id="61" name="bg60"/>
          <p:cNvSpPr/>
          <p:nvPr/>
        </p:nvSpPr>
        <p:spPr>
          <a:xfrm>
            <a:off x="3720000" y="3660000"/>
            <a:ext cx="5200000" cy="160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fg60"/>
          <p:cNvSpPr/>
          <p:nvPr/>
        </p:nvSpPr>
        <p:spPr>
          <a:xfrm>
            <a:off x="3720000" y="3660000"/>
            <a:ext cx="5200000" cy="1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70"/>
          <p:cNvSpPr txBox="1"/>
          <p:nvPr/>
        </p:nvSpPr>
        <p:spPr>
          <a:xfrm>
            <a:off x="420000" y="4080000"/>
            <a:ext cx="3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475569"/>
                </a:solidFill>
              </a:rPr>
              <a:t>Open rights  3</a:t>
            </a:r>
          </a:p>
        </p:txBody>
      </p:sp>
      <p:sp>
        <p:nvSpPr>
          <p:cNvPr id="71" name="bg70"/>
          <p:cNvSpPr/>
          <p:nvPr/>
        </p:nvSpPr>
        <p:spPr>
          <a:xfrm>
            <a:off x="3720000" y="4140000"/>
            <a:ext cx="5200000" cy="160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fg70"/>
          <p:cNvSpPr/>
          <p:nvPr/>
        </p:nvSpPr>
        <p:spPr>
          <a:xfrm>
            <a:off x="3720000" y="4140000"/>
            <a:ext cx="5200000" cy="1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80"/>
          <p:cNvSpPr txBox="1"/>
          <p:nvPr/>
        </p:nvSpPr>
        <p:spPr>
          <a:xfrm>
            <a:off x="420000" y="4560000"/>
            <a:ext cx="3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475569"/>
                </a:solidFill>
              </a:rPr>
              <a:t>Transfers in review  3</a:t>
            </a:r>
          </a:p>
        </p:txBody>
      </p:sp>
      <p:sp>
        <p:nvSpPr>
          <p:cNvPr id="81" name="bg80"/>
          <p:cNvSpPr/>
          <p:nvPr/>
        </p:nvSpPr>
        <p:spPr>
          <a:xfrm>
            <a:off x="3720000" y="4620000"/>
            <a:ext cx="5200000" cy="160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fg80"/>
          <p:cNvSpPr/>
          <p:nvPr/>
        </p:nvSpPr>
        <p:spPr>
          <a:xfrm>
            <a:off x="3720000" y="4620000"/>
            <a:ext cx="5200000" cy="1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t90"/>
          <p:cNvSpPr txBox="1"/>
          <p:nvPr/>
        </p:nvSpPr>
        <p:spPr>
          <a:xfrm>
            <a:off x="420000" y="5040000"/>
            <a:ext cx="3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475569"/>
                </a:solidFill>
              </a:rPr>
              <a:t>High-risk processing  3</a:t>
            </a:r>
          </a:p>
        </p:txBody>
      </p:sp>
      <p:sp>
        <p:nvSpPr>
          <p:cNvPr id="91" name="bg90"/>
          <p:cNvSpPr/>
          <p:nvPr/>
        </p:nvSpPr>
        <p:spPr>
          <a:xfrm>
            <a:off x="3720000" y="5100000"/>
            <a:ext cx="5200000" cy="1600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fg90"/>
          <p:cNvSpPr/>
          <p:nvPr/>
        </p:nvSpPr>
        <p:spPr>
          <a:xfrm>
            <a:off x="3720000" y="5100000"/>
            <a:ext cx="5200000" cy="1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Processing and data footprint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Where personal data is recorded to be processed.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Activities in view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Jurisdictions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Data categories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Linked processors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PA-00001  Claims servicing  ·  Active  ·  US-NY, IE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PA-00002  Claims servicing  ·  Active  ·  US-NY, IE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PA-00003  Claims servicing  ·  Active  ·  US-NY, IE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Highest privacy risks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Linked Supreme Risk records only. No invented residual scores.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High-risk activities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Open gaps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Processors with issues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Evidence refresh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PA-00001  Claims servicing  ·  risk High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PA-00002  Claims servicing  ·  risk High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PA-00003  Claims servicing  ·  risk High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420000" y="5800000"/>
            <a:ext cx="1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International transfer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A recorded mechanism is not a finding that a transfer is lawful.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Transfers recorded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Review required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Mechanism recorded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None invented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Lawfulness finding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XFR-00001  US-NY → IE  ·  Scc  ·  Review Required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XFR-00002  US-NY → IE  ·  Scc  ·  Review Required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XFR-00003  US-NY → IE  ·  Scc  ·  Review Required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Rights-request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Requester identity is withheld from this board view.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Open requests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Overdue (configured)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Recorded requests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Configured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Deadline model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DSR-00001  Access  ·  Received  ·  configured due 2026-10-13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DSR-00002  Access  ·  Received  ·  configured due 2026-10-13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DSR-00003  Access  ·  Received  ·  configured due 2026-10-13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DPIA / assessment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Screening recommends review. It does not say a DPIA is legally required.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DPIAs recorded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DPIAs due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Decisions recorded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Review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Not legal clearance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DPIA-00001  Claims privacy review  ·  In Progress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DPIA-00002  Claims privacy review  ·  In Progress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DPIA-00003  Claims privacy review  ·  In Progress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Vendor / processor exposure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Third Party identity is reused. Privacy adds role and links only.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Linked processors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With privacy issues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Transfer paths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Evidence refresh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PA-00001  processors: None recorded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PA-00002  processors: Supreme Investigation (Processor)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PA-00003  processors: Supreme Investigation (Processor)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Retention / deletion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Closed tasks are not proof that external-system data is deleted.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Retention rules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Actions due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Deletion pending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Manual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Auto-delete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RET-00001  7 years after claim close  ·  Scheduled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RET-00002  7 years after claim close  ·  Scheduled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RET-00003  7 years after claim close  ·  Scheduled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Evidence / control health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CLEAN presence is not proof. Shared #14 evidence is reused.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Evidence refresh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Open gaps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Shared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Control plane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800" b="1" dirty="0">
                <a:solidFill>
                  <a:srgbClr val="0F172A"/>
                </a:solidFill>
              </a:rPr>
              <a:t>Fail-closed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80000"/>
            <a:ext cx="2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100" b="0" dirty="0">
                <a:solidFill>
                  <a:srgbClr val="475569"/>
                </a:solidFill>
              </a:rPr>
              <a:t>Malware policy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2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GAP-00001  Open privacy-related gap: GAP-00001 500.07 is mapped to controls that are not implemented. A gap is remaining work, not a legal conclusion.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420000" y="35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GAP-00003  Open privacy-related gap: GAP-00003 A.15 is mapped to controls that are not implemented. A gap is remaining work, not a legal conclusion.</a:t>
            </a:r>
          </a:p>
        </p:txBody>
      </p:sp>
      <p:sp>
        <p:nvSpPr>
          <p:cNvPr id="62" name="t62"/>
          <p:cNvSpPr txBox="1"/>
          <p:nvPr/>
        </p:nvSpPr>
        <p:spPr>
          <a:xfrm>
            <a:off x="420000" y="39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GAP-00002  Open privacy-related gap: GAP-00002 500.07 has no current CLEAN evidence. A gap is remaining work, not a legal conclusion.</a:t>
            </a:r>
          </a:p>
        </p:txBody>
      </p:sp>
      <p:sp>
        <p:nvSpPr>
          <p:cNvPr id="63" name="t63"/>
          <p:cNvSpPr txBox="1"/>
          <p:nvPr/>
        </p:nvSpPr>
        <p:spPr>
          <a:xfrm>
            <a:off x="420000" y="434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GAP-00004  Open privacy-related gap: GAP-00004 A.15 has no current CLEAN evidence. A gap is remaining work, not a legal conclusion.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420000" y="5800000"/>
            <a:ext cx="1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Key decisions required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Human-authoritative. Supreme does not issue legal conclusions.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20000" y="16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XFR-00001  Transfer requiring review — XFR-00001 US-NY → IE is recorded as review required. This is not a lawfulness finding.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420000" y="19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XFR-00002  Transfer requiring review — XFR-00002 US-NY → IE is recorded as review required. This is not a lawfulness finding.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420000" y="23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XFR-00003  Transfer requiring review — XFR-00003 US-NY → IE is recorded as review required. This is not a lawfulness finding.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420000" y="274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GAP-00001  Open privacy-related gap — GAP-00001 500.07 is mapped to controls that are not implemented. A gap is remaining work, not a legal conclusion.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420000" y="312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GAP-00003  Open privacy-related gap — GAP-00003 A.15 is mapped to controls that are not implemented. A gap is remaining work, not a legal conclusion.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20000" y="35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GAP-00002  Open privacy-related gap — GAP-00002 500.07 has no current CLEAN evidence. A gap is remaining work, not a legal conclusion.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420000" y="38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GAP-00004  Open privacy-related gap — GAP-00004 A.15 has no current CLEAN evidence. A gap is remaining work, not a legal conclusion.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/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Priority actions / next 90 days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CBD5E1"/>
                </a:solidFill>
              </a:rPr>
              <a:t>Taken from the live attention queue. No invented program.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20000" y="16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1. Review XFR-00001 — Transfer requiring review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420000" y="19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2. Review XFR-00002 — Transfer requiring review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420000" y="236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3. Review XFR-00003 — Transfer requiring review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420000" y="274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4. Review GAP-00001 — Open privacy-related gap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420000" y="312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5. Review GAP-00003 — Open privacy-related gap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20000" y="350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6. Review GAP-00002 — Open privacy-related gap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420000" y="3880000"/>
            <a:ext cx="110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0" dirty="0">
                <a:solidFill>
                  <a:srgbClr val="0F172A"/>
                </a:solidFill>
              </a:rPr>
              <a:t>7. Review GAP-00004 — Open privacy-related gap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420000" y="5600000"/>
            <a:ext cx="11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200" b="0" dirty="0">
                <a:solidFill>
                  <a:srgbClr val="64748B"/>
                </a:solidFill>
              </a:rPr>
              <a:t>Consent collector remains not configured / manual. No trend available.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900" b="0" dirty="0">
                <a:solidFill>
                  <a:srgbClr val="64748B"/>
                </a:solidFill>
              </a:rPr>
              <a:t>Supreme Privacy Board Report  ·  Confidential  · 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n-US" sz="900" b="0" dirty="0">
                <a:solidFill>
                  <a:srgbClr val="64748B"/>
                </a:solidFill>
              </a:rPr>
              <a:t>12 / 12</a:t>
            </a:r>
          </a:p>
        </p:txBody>
      </p:sp>
    </p:spTree>
  </p:cSld>
  <p:clrMapOvr>
    <a:masterClrMapping/>
  </p:clrMapOvr>
</p:sld>
</file>