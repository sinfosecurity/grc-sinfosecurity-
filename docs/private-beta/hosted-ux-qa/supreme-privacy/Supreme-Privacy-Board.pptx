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k0"/>
          <p:cNvSpPr txBox="1"/>
          <p:nvPr/>
        </p:nvSpPr>
        <p:spPr>
          <a:xfrm>
            <a:off x="4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2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Active processing</a:t>
            </a:r>
          </a:p>
        </p:txBody>
      </p:sp>
      <p:sp>
        <p:nvSpPr>
          <p:cNvPr id="21" name="k1"/>
          <p:cNvSpPr txBox="1"/>
          <p:nvPr/>
        </p:nvSpPr>
        <p:spPr>
          <a:xfrm>
            <a:off x="25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2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Open rights</a:t>
            </a:r>
          </a:p>
        </p:txBody>
      </p:sp>
      <p:sp>
        <p:nvSpPr>
          <p:cNvPr id="22" name="k2"/>
          <p:cNvSpPr txBox="1"/>
          <p:nvPr/>
        </p:nvSpPr>
        <p:spPr>
          <a:xfrm>
            <a:off x="46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2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Transfers in review</a:t>
            </a:r>
          </a:p>
        </p:txBody>
      </p:sp>
      <p:sp>
        <p:nvSpPr>
          <p:cNvPr id="23" name="k3"/>
          <p:cNvSpPr txBox="1"/>
          <p:nvPr/>
        </p:nvSpPr>
        <p:spPr>
          <a:xfrm>
            <a:off x="67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0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Retention due</a:t>
            </a:r>
          </a:p>
        </p:txBody>
      </p:sp>
      <p:sp>
        <p:nvSpPr>
          <p:cNvPr id="2" name="t0"/>
          <p:cNvSpPr txBox="1"/>
          <p:nvPr/>
        </p:nvSpPr>
        <p:spPr>
          <a:xfrm>
            <a:off x="457200" y="29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Supreme Privacy — Board summary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33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Elite Claims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37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Recorded legal basis is not a finding that processing is lawful.</a:t>
            </a:r>
          </a:p>
        </p:txBody>
      </p:sp>
      <p:sp>
        <p:nvSpPr>
          <p:cNvPr id="5" name="t3"/>
          <p:cNvSpPr txBox="1"/>
          <p:nvPr/>
        </p:nvSpPr>
        <p:spPr>
          <a:xfrm>
            <a:off x="457200" y="41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Configured deadlines are not legal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k0"/>
          <p:cNvSpPr txBox="1"/>
          <p:nvPr/>
        </p:nvSpPr>
        <p:spPr>
          <a:xfrm>
            <a:off x="4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2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High-risk processing</a:t>
            </a:r>
          </a:p>
        </p:txBody>
      </p:sp>
      <p:sp>
        <p:nvSpPr>
          <p:cNvPr id="21" name="k1"/>
          <p:cNvSpPr txBox="1"/>
          <p:nvPr/>
        </p:nvSpPr>
        <p:spPr>
          <a:xfrm>
            <a:off x="25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0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DPIAs due</a:t>
            </a:r>
          </a:p>
        </p:txBody>
      </p:sp>
      <p:sp>
        <p:nvSpPr>
          <p:cNvPr id="22" name="k2"/>
          <p:cNvSpPr txBox="1"/>
          <p:nvPr/>
        </p:nvSpPr>
        <p:spPr>
          <a:xfrm>
            <a:off x="46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0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Overdue rights</a:t>
            </a:r>
          </a:p>
        </p:txBody>
      </p:sp>
      <p:sp>
        <p:nvSpPr>
          <p:cNvPr id="23" name="k3"/>
          <p:cNvSpPr txBox="1"/>
          <p:nvPr/>
        </p:nvSpPr>
        <p:spPr>
          <a:xfrm>
            <a:off x="67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4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Open gaps</a:t>
            </a:r>
          </a:p>
        </p:txBody>
      </p:sp>
      <p:sp>
        <p:nvSpPr>
          <p:cNvPr id="2" name="t0"/>
          <p:cNvSpPr txBox="1"/>
          <p:nvPr/>
        </p:nvSpPr>
        <p:spPr>
          <a:xfrm>
            <a:off x="457200" y="29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Privacy posture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33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A DPIA decision is not a claim that GDPR is satisfied.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37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Closed deletion tasks are not proof data is gone.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k0"/>
          <p:cNvSpPr txBox="1"/>
          <p:nvPr/>
        </p:nvSpPr>
        <p:spPr>
          <a:xfrm>
            <a:off x="4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2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Transfers in review</a:t>
            </a:r>
          </a:p>
        </p:txBody>
      </p:sp>
      <p:sp>
        <p:nvSpPr>
          <p:cNvPr id="21" name="k1"/>
          <p:cNvSpPr txBox="1"/>
          <p:nvPr/>
        </p:nvSpPr>
        <p:spPr>
          <a:xfrm>
            <a:off x="25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1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Processors linked</a:t>
            </a:r>
          </a:p>
        </p:txBody>
      </p:sp>
      <p:sp>
        <p:nvSpPr>
          <p:cNvPr id="22" name="k2"/>
          <p:cNvSpPr txBox="1"/>
          <p:nvPr/>
        </p:nvSpPr>
        <p:spPr>
          <a:xfrm>
            <a:off x="46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0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Evidence refresh</a:t>
            </a:r>
          </a:p>
        </p:txBody>
      </p:sp>
      <p:sp>
        <p:nvSpPr>
          <p:cNvPr id="23" name="k3"/>
          <p:cNvSpPr txBox="1"/>
          <p:nvPr/>
        </p:nvSpPr>
        <p:spPr>
          <a:xfrm>
            <a:off x="67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0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Deletion pending</a:t>
            </a:r>
          </a:p>
        </p:txBody>
      </p:sp>
      <p:sp>
        <p:nvSpPr>
          <p:cNvPr id="2" name="t0"/>
          <p:cNvSpPr txBox="1"/>
          <p:nvPr/>
        </p:nvSpPr>
        <p:spPr>
          <a:xfrm>
            <a:off x="457200" y="29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Transfers and processors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33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XFR-00001 US-NY → IE · REVIEW REQUIRED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37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XFR-00002 US-NY → IE · REVIEW REQUIRED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k0"/>
          <p:cNvSpPr txBox="1"/>
          <p:nvPr/>
        </p:nvSpPr>
        <p:spPr>
          <a:xfrm>
            <a:off x="4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2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Open rights</a:t>
            </a:r>
          </a:p>
        </p:txBody>
      </p:sp>
      <p:sp>
        <p:nvSpPr>
          <p:cNvPr id="21" name="k1"/>
          <p:cNvSpPr txBox="1"/>
          <p:nvPr/>
        </p:nvSpPr>
        <p:spPr>
          <a:xfrm>
            <a:off x="25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0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Overdue rights</a:t>
            </a:r>
          </a:p>
        </p:txBody>
      </p:sp>
      <p:sp>
        <p:nvSpPr>
          <p:cNvPr id="22" name="k2"/>
          <p:cNvSpPr txBox="1"/>
          <p:nvPr/>
        </p:nvSpPr>
        <p:spPr>
          <a:xfrm>
            <a:off x="46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0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Retention due</a:t>
            </a:r>
          </a:p>
        </p:txBody>
      </p:sp>
      <p:sp>
        <p:nvSpPr>
          <p:cNvPr id="23" name="k3"/>
          <p:cNvSpPr txBox="1"/>
          <p:nvPr/>
        </p:nvSpPr>
        <p:spPr>
          <a:xfrm>
            <a:off x="6757200" y="1600000"/>
            <a:ext cx="1950000" cy="11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0F172A"/>
                </a:solidFill>
              </a:rPr>
              <a:t>Manual</a:t>
            </a:r>
          </a:p>
          <a:p>
            <a:pPr algn="ctr"/>
            <a:r>
              <a:rPr lang="en-US" sz="1100" dirty="0">
                <a:solidFill>
                  <a:srgbClr val="475569"/>
                </a:solidFill>
              </a:rPr>
              <a:t>Consent collector</a:t>
            </a:r>
          </a:p>
        </p:txBody>
      </p:sp>
      <p:sp>
        <p:nvSpPr>
          <p:cNvPr id="2" name="t0"/>
          <p:cNvSpPr txBox="1"/>
          <p:nvPr/>
        </p:nvSpPr>
        <p:spPr>
          <a:xfrm>
            <a:off x="457200" y="29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Rights and retention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33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Requester identity is withheld from this board view.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37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Consent collection remains not configured / manual.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Needs attention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Transfer requiring review: XFR-00001 US-NY → IE is recorded as review required. This is not a lawfulness finding.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16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Transfer requiring review: XFR-00002 US-NY → IE is recorded as review required. This is not a lawfulness finding.</a:t>
            </a:r>
          </a:p>
        </p:txBody>
      </p:sp>
      <p:sp>
        <p:nvSpPr>
          <p:cNvPr id="5" name="t3"/>
          <p:cNvSpPr txBox="1"/>
          <p:nvPr/>
        </p:nvSpPr>
        <p:spPr>
          <a:xfrm>
            <a:off x="457200" y="20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Open privacy-related gap: GAP-00001 500.07 is mapped to controls that are not implemented. A gap is remaining work, not a legal conclusion.</a:t>
            </a:r>
          </a:p>
        </p:txBody>
      </p:sp>
      <p:sp>
        <p:nvSpPr>
          <p:cNvPr id="6" name="t4"/>
          <p:cNvSpPr txBox="1"/>
          <p:nvPr/>
        </p:nvSpPr>
        <p:spPr>
          <a:xfrm>
            <a:off x="457200" y="248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Open privacy-related gap: GAP-00003 A.15 is mapped to controls that are not implemented. A gap is remaining work, not a legal conclusion.</a:t>
            </a:r>
          </a:p>
        </p:txBody>
      </p:sp>
      <p:sp>
        <p:nvSpPr>
          <p:cNvPr id="7" name="t5"/>
          <p:cNvSpPr txBox="1"/>
          <p:nvPr/>
        </p:nvSpPr>
        <p:spPr>
          <a:xfrm>
            <a:off x="457200" y="29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Open privacy-related gap: GAP-00002 500.07 has no current CLEAN evidence. A gap is remaining work, not a legal conclusion.</a:t>
            </a:r>
          </a:p>
        </p:txBody>
      </p:sp>
      <p:sp>
        <p:nvSpPr>
          <p:cNvPr id="8" name="t6"/>
          <p:cNvSpPr txBox="1"/>
          <p:nvPr/>
        </p:nvSpPr>
        <p:spPr>
          <a:xfrm>
            <a:off x="457200" y="33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Open privacy-related gap: GAP-00004 A.15 has no current CLEAN evidence. A gap is remaining work, not a legal conclusion.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Decisions required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Review XFR-00001 — Transfer requiring review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16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Review XFR-00002 — Transfer requiring review</a:t>
            </a:r>
          </a:p>
        </p:txBody>
      </p:sp>
      <p:sp>
        <p:nvSpPr>
          <p:cNvPr id="5" name="t3"/>
          <p:cNvSpPr txBox="1"/>
          <p:nvPr/>
        </p:nvSpPr>
        <p:spPr>
          <a:xfrm>
            <a:off x="457200" y="20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Review GAP-00001 — Open privacy-related gap</a:t>
            </a:r>
          </a:p>
        </p:txBody>
      </p:sp>
      <p:sp>
        <p:nvSpPr>
          <p:cNvPr id="6" name="t4"/>
          <p:cNvSpPr txBox="1"/>
          <p:nvPr/>
        </p:nvSpPr>
        <p:spPr>
          <a:xfrm>
            <a:off x="457200" y="248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Review GAP-00003 — Open privacy-related gap</a:t>
            </a:r>
          </a:p>
        </p:txBody>
      </p:sp>
      <p:sp>
        <p:nvSpPr>
          <p:cNvPr id="7" name="t5"/>
          <p:cNvSpPr txBox="1"/>
          <p:nvPr/>
        </p:nvSpPr>
        <p:spPr>
          <a:xfrm>
            <a:off x="457200" y="29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Review GAP-00002 — Open privacy-related gap</a:t>
            </a:r>
          </a:p>
        </p:txBody>
      </p:sp>
      <p:sp>
        <p:nvSpPr>
          <p:cNvPr id="8" name="t6"/>
          <p:cNvSpPr txBox="1"/>
          <p:nvPr/>
        </p:nvSpPr>
        <p:spPr>
          <a:xfrm>
            <a:off x="457200" y="33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Review GAP-00004 — Open privacy-related gap</a:t>
            </a:r>
          </a:p>
        </p:txBody>
      </p:sp>
      <p:sp>
        <p:nvSpPr>
          <p:cNvPr id="9" name="t7"/>
          <p:cNvSpPr txBox="1"/>
          <p:nvPr/>
        </p:nvSpPr>
        <p:spPr>
          <a:xfrm>
            <a:off x="457200" y="37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Supreme Privacy records organizational determinations. It does not provide legal advice.</a:t>
            </a:r>
          </a:p>
        </p:txBody>
      </p:sp>
    </p:spTree>
  </p:cSld>
  <p:clrMapOvr>
    <a:masterClrMapping/>
  </p:clrMapOvr>
</p:sld>
</file>