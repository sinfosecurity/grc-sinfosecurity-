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5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officeDocument/2006/relationships">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
  <Relationship Id="rId15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p:lvl1pPr algn="l" defTabSz="914400" rtl="0" eaLnBrk="1" latinLnBrk="0" hangingPunct="1">
        <p:spcBef>
          <a:spcPct val="0"/>
        </p:spcBef>
        <p:buFont typeface="Arial"/>
        <p:buNone/>
        <a:defRPr sz="4400" kern="1200">
          <a:solidFill>
            <a:schemeClr val="tx1"/>
          </a:solidFill>
          <a:latin typeface="Calibri"/>
          <a:ea typeface=""/>
          <a:cs typeface=""/>
        </a:defRPr>
      </p:lvl1pPr>
    </p:titleStyle>
    <p:bodyStyle>
      <p:lvl1pPr algn="l" defTabSz="914400" rtl="0" eaLnBrk="1" latinLnBrk="0" hangingPunct="1">
        <a:defRPr sz="1800" kern="1200">
          <a:solidFill>
            <a:schemeClr val="tx1"/>
          </a:solidFill>
          <a:latin typeface="Calibri"/>
        </a:defRPr>
      </p:lvl1pPr>
    </p:bodyStyle>
    <p:otherStyle>
      <p:defPPr>
        <a:defRPr lang="en-US"/>
      </p:def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gold"/>
          <p:cNvSpPr/>
          <p:nvPr/>
        </p:nvSpPr>
        <p:spPr>
          <a:xfrm>
            <a:off x="420000" y="2100000"/>
            <a:ext cx="1800000" cy="7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t4"/>
          <p:cNvSpPr txBox="1"/>
          <p:nvPr/>
        </p:nvSpPr>
        <p:spPr>
          <a:xfrm>
            <a:off x="420000" y="2280000"/>
            <a:ext cx="11000000" cy="4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400" b="1" dirty="0">
                <a:solidFill>
                  <a:srgbClr val="C5A46E"/>
                </a:solidFill>
                <a:latin typeface="Calibri" pitchFamily="34" charset="0"/>
              </a:rPr>
              <a:t xml:space="preserve">SUPREME PRIVACY</a:t>
            </a:r>
          </a:p>
        </p:txBody>
      </p:sp>
      <p:sp>
        <p:nvSpPr>
          <p:cNvPr id="5" name="t5"/>
          <p:cNvSpPr txBox="1"/>
          <p:nvPr/>
        </p:nvSpPr>
        <p:spPr>
          <a:xfrm>
            <a:off x="420000" y="2700000"/>
            <a:ext cx="11000000" cy="7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 xml:space="preserve">Board Risk Committee report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3480000"/>
            <a:ext cx="11000000" cy="4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800" b="0" dirty="0">
                <a:solidFill>
                  <a:srgbClr val="E2E8F0"/>
                </a:solidFill>
                <a:latin typeface="Calibri" pitchFamily="34" charset="0"/>
              </a:rPr>
              <a:t xml:space="preserve">Elite Claims</a:t>
            </a:r>
          </a:p>
        </p:txBody>
      </p:sp>
      <p:sp>
        <p:nvSpPr>
          <p:cNvPr id="7" name="t7"/>
          <p:cNvSpPr txBox="1"/>
          <p:nvPr/>
        </p:nvSpPr>
        <p:spPr>
          <a:xfrm>
            <a:off x="420000" y="400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94A3B8"/>
                </a:solidFill>
                <a:latin typeface="Calibri" pitchFamily="34" charset="0"/>
              </a:rPr>
              <a:t xml:space="preserve">2026-09-13 · Live tenant records only · No trend available</a:t>
            </a:r>
          </a:p>
        </p:txBody>
      </p:sp>
      <p:sp>
        <p:nvSpPr>
          <p:cNvPr id="8" name="t8"/>
          <p:cNvSpPr txBox="1"/>
          <p:nvPr/>
        </p:nvSpPr>
        <p:spPr>
          <a:xfrm>
            <a:off x="420000" y="548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Prepared for CPO, DPO, General Counsel, CISO, CRO, and the Board Risk Committee.</a:t>
            </a:r>
          </a:p>
        </p:txBody>
      </p:sp>
      <p:sp>
        <p:nvSpPr>
          <p:cNvPr id="9" name="t9"/>
          <p:cNvSpPr txBox="1"/>
          <p:nvPr/>
        </p:nvSpPr>
        <p:spPr>
          <a:xfrm>
            <a:off x="420000" y="5880000"/>
            <a:ext cx="110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100" b="0" dirty="0">
                <a:solidFill>
                  <a:srgbClr val="94A3B8"/>
                </a:solidFill>
                <a:latin typeface="Calibri" pitchFamily="34" charset="0"/>
              </a:rPr>
              <a:t xml:space="preserve">Recorded operations are not a finding that processing is lawful. Not legal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Privacy posture at a glance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Recorded operations, not a finding that processing is lawful.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Active processing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Open rights requests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Transfers in review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High-risk processing</a:t>
            </a:r>
          </a:p>
        </p:txBody>
      </p:sp>
      <p:sp>
        <p:nvSpPr>
          <p:cNvPr id="50" name="t50"/>
          <p:cNvSpPr txBox="1"/>
          <p:nvPr/>
        </p:nvSpPr>
        <p:spPr>
          <a:xfrm>
            <a:off x="420000" y="3180000"/>
            <a:ext cx="11000000" cy="3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64748B"/>
                </a:solidFill>
                <a:latin typeface="Calibri" pitchFamily="34" charset="0"/>
              </a:rPr>
              <a:t xml:space="preserve">No trend available. Supreme does not invent arrows when history is insufficient.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420000" y="360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Active processing 4</a:t>
            </a:r>
          </a:p>
        </p:txBody>
      </p:sp>
      <p:sp>
        <p:nvSpPr>
          <p:cNvPr id="61" name="bg60"/>
          <p:cNvSpPr/>
          <p:nvPr/>
        </p:nvSpPr>
        <p:spPr>
          <a:xfrm>
            <a:off x="3720000" y="366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fg60"/>
          <p:cNvSpPr/>
          <p:nvPr/>
        </p:nvSpPr>
        <p:spPr>
          <a:xfrm>
            <a:off x="3720000" y="366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" name="t70"/>
          <p:cNvSpPr txBox="1"/>
          <p:nvPr/>
        </p:nvSpPr>
        <p:spPr>
          <a:xfrm>
            <a:off x="420000" y="408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Open rights 4</a:t>
            </a:r>
          </a:p>
        </p:txBody>
      </p:sp>
      <p:sp>
        <p:nvSpPr>
          <p:cNvPr id="71" name="bg70"/>
          <p:cNvSpPr/>
          <p:nvPr/>
        </p:nvSpPr>
        <p:spPr>
          <a:xfrm>
            <a:off x="3720000" y="414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2" name="fg70"/>
          <p:cNvSpPr/>
          <p:nvPr/>
        </p:nvSpPr>
        <p:spPr>
          <a:xfrm>
            <a:off x="3720000" y="414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t80"/>
          <p:cNvSpPr txBox="1"/>
          <p:nvPr/>
        </p:nvSpPr>
        <p:spPr>
          <a:xfrm>
            <a:off x="420000" y="456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Transfers in review 4</a:t>
            </a:r>
          </a:p>
        </p:txBody>
      </p:sp>
      <p:sp>
        <p:nvSpPr>
          <p:cNvPr id="81" name="bg80"/>
          <p:cNvSpPr/>
          <p:nvPr/>
        </p:nvSpPr>
        <p:spPr>
          <a:xfrm>
            <a:off x="3720000" y="462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2" name="fg80"/>
          <p:cNvSpPr/>
          <p:nvPr/>
        </p:nvSpPr>
        <p:spPr>
          <a:xfrm>
            <a:off x="3720000" y="462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" name="t90"/>
          <p:cNvSpPr txBox="1"/>
          <p:nvPr/>
        </p:nvSpPr>
        <p:spPr>
          <a:xfrm>
            <a:off x="420000" y="504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High-risk processing 4</a:t>
            </a:r>
          </a:p>
        </p:txBody>
      </p:sp>
      <p:sp>
        <p:nvSpPr>
          <p:cNvPr id="91" name="bg90"/>
          <p:cNvSpPr/>
          <p:nvPr/>
        </p:nvSpPr>
        <p:spPr>
          <a:xfrm>
            <a:off x="3720000" y="510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" name="fg90"/>
          <p:cNvSpPr/>
          <p:nvPr/>
        </p:nvSpPr>
        <p:spPr>
          <a:xfrm>
            <a:off x="3720000" y="510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Processing and data footprint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Where personal data is recorded to be processed.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Activities in view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2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Jurisdictions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Data categories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Linked processors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PA-00001 Claims servicing · Active · US-NY, IE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59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PA-00002 Claims servicing · Active · US-NY, IE</a:t>
            </a:r>
          </a:p>
        </p:txBody>
      </p:sp>
      <p:sp>
        <p:nvSpPr>
          <p:cNvPr id="62" name="n62"/>
          <p:cNvSpPr txBox="1"/>
          <p:nvPr/>
        </p:nvSpPr>
        <p:spPr>
          <a:xfrm>
            <a:off x="420000" y="39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PA-00003 Claims servicing · Active · US-NY, IE</a:t>
            </a:r>
          </a:p>
        </p:txBody>
      </p:sp>
      <p:sp>
        <p:nvSpPr>
          <p:cNvPr id="63" name="n63"/>
          <p:cNvSpPr txBox="1"/>
          <p:nvPr/>
        </p:nvSpPr>
        <p:spPr>
          <a:xfrm>
            <a:off x="420000" y="437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PA-00004 Claims servicing · Active · US-NY, IE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Highest privacy risks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Linked Supreme Risk records only. No invented residual scores.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High-risk activities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Open gaps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Processors with issues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Evidence refresh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PA-00001 Claims servicing · High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59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PA-00002 Claims servicing · High</a:t>
            </a:r>
          </a:p>
        </p:txBody>
      </p:sp>
      <p:sp>
        <p:nvSpPr>
          <p:cNvPr id="62" name="n62"/>
          <p:cNvSpPr txBox="1"/>
          <p:nvPr/>
        </p:nvSpPr>
        <p:spPr>
          <a:xfrm>
            <a:off x="420000" y="39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PA-00003 Claims servicing · High</a:t>
            </a:r>
          </a:p>
        </p:txBody>
      </p:sp>
      <p:sp>
        <p:nvSpPr>
          <p:cNvPr id="63" name="n63"/>
          <p:cNvSpPr txBox="1"/>
          <p:nvPr/>
        </p:nvSpPr>
        <p:spPr>
          <a:xfrm>
            <a:off x="420000" y="437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PA-00004 Claims servicing · High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420000" y="5600000"/>
            <a:ext cx="11000000" cy="3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64748B"/>
                </a:solidFill>
                <a:latin typeface="Calibri" pitchFamily="34" charset="0"/>
              </a:rPr>
              <a:t xml:space="preserve">Highest recorded privacy risk activities.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International transfer posture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A recorded mechanism is not a finding that a transfer is lawful.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Transfers recorded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Review required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Mechanism recorded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None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Lawfulness claimed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XFR-00001 US-NY to IE · Scc · Review Required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59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XFR-00002 US-NY to IE · Scc · Review Required</a:t>
            </a:r>
          </a:p>
        </p:txBody>
      </p:sp>
      <p:sp>
        <p:nvSpPr>
          <p:cNvPr id="62" name="n62"/>
          <p:cNvSpPr txBox="1"/>
          <p:nvPr/>
        </p:nvSpPr>
        <p:spPr>
          <a:xfrm>
            <a:off x="420000" y="39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XFR-00003 US-NY to IE · Scc · Review Required</a:t>
            </a:r>
          </a:p>
        </p:txBody>
      </p:sp>
      <p:sp>
        <p:nvSpPr>
          <p:cNvPr id="63" name="n63"/>
          <p:cNvSpPr txBox="1"/>
          <p:nvPr/>
        </p:nvSpPr>
        <p:spPr>
          <a:xfrm>
            <a:off x="420000" y="437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XFR-00004 US-NY to IE · Scc · Review Required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Rights-request posture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Requester identity is withheld from this board view.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Open requests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Overdue (configured)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Recorded requests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000" b="1" dirty="0">
                <a:solidFill>
                  <a:srgbClr val="0F172A"/>
                </a:solidFill>
                <a:latin typeface="Calibri" pitchFamily="34" charset="0"/>
              </a:rPr>
              <a:t xml:space="preserve">Configured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Deadline model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DSR-00001 Access · Received · configured due 2026-10-13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59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DSR-00002 Access · Received · configured due 2026-10-13</a:t>
            </a:r>
          </a:p>
        </p:txBody>
      </p:sp>
      <p:sp>
        <p:nvSpPr>
          <p:cNvPr id="62" name="n62"/>
          <p:cNvSpPr txBox="1"/>
          <p:nvPr/>
        </p:nvSpPr>
        <p:spPr>
          <a:xfrm>
            <a:off x="420000" y="39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DSR-00003 Access · Received · configured due 2026-10-13</a:t>
            </a:r>
          </a:p>
        </p:txBody>
      </p:sp>
      <p:sp>
        <p:nvSpPr>
          <p:cNvPr id="63" name="n63"/>
          <p:cNvSpPr txBox="1"/>
          <p:nvPr/>
        </p:nvSpPr>
        <p:spPr>
          <a:xfrm>
            <a:off x="420000" y="437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DSR-00004 Access · Received · configured due 2026-10-13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DPIA / assessment posture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Screening recommends review. It does not say a DPIA is legally required.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DPIAs recorded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DPIAs due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Decisions recorded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Review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Not legal clearance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DPIA-00001 Claims privacy review · In Progress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59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DPIA-00002 Claims privacy review · In Progress</a:t>
            </a:r>
          </a:p>
        </p:txBody>
      </p:sp>
      <p:sp>
        <p:nvSpPr>
          <p:cNvPr id="62" name="n62"/>
          <p:cNvSpPr txBox="1"/>
          <p:nvPr/>
        </p:nvSpPr>
        <p:spPr>
          <a:xfrm>
            <a:off x="420000" y="39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DPIA-00003 Claims privacy review · In Progress</a:t>
            </a:r>
          </a:p>
        </p:txBody>
      </p:sp>
      <p:sp>
        <p:nvSpPr>
          <p:cNvPr id="63" name="n63"/>
          <p:cNvSpPr txBox="1"/>
          <p:nvPr/>
        </p:nvSpPr>
        <p:spPr>
          <a:xfrm>
            <a:off x="420000" y="437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DPIA-00004 Claims privacy review · In Progress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Vendor / processor exposure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Third Party identity is reused. Privacy adds role and links only.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Linked processors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With privacy issues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Transfer paths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Evidence refresh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PA-00001 No processor recorded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59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PA-00002 Supreme Investigation · Processor</a:t>
            </a:r>
          </a:p>
        </p:txBody>
      </p:sp>
      <p:sp>
        <p:nvSpPr>
          <p:cNvPr id="62" name="n62"/>
          <p:cNvSpPr txBox="1"/>
          <p:nvPr/>
        </p:nvSpPr>
        <p:spPr>
          <a:xfrm>
            <a:off x="420000" y="39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PA-00003 Supreme Investigation · Processor</a:t>
            </a:r>
          </a:p>
        </p:txBody>
      </p:sp>
      <p:sp>
        <p:nvSpPr>
          <p:cNvPr id="63" name="n63"/>
          <p:cNvSpPr txBox="1"/>
          <p:nvPr/>
        </p:nvSpPr>
        <p:spPr>
          <a:xfrm>
            <a:off x="420000" y="437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PA-00004 Supreme Investigation · Processor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Retention / deletion posture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Closed tasks are not proof that external-system data is deleted.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Retention rules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Actions due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2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Deletion pending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Manual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Auto-delete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RET-00001 7 years after claim close · Scheduled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59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RET-00002 7 years after claim close · Scheduled</a:t>
            </a:r>
          </a:p>
        </p:txBody>
      </p:sp>
      <p:sp>
        <p:nvSpPr>
          <p:cNvPr id="62" name="n62"/>
          <p:cNvSpPr txBox="1"/>
          <p:nvPr/>
        </p:nvSpPr>
        <p:spPr>
          <a:xfrm>
            <a:off x="420000" y="39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RET-00003 7 years after claim close · Scheduled</a:t>
            </a:r>
          </a:p>
        </p:txBody>
      </p:sp>
      <p:sp>
        <p:nvSpPr>
          <p:cNvPr id="63" name="n63"/>
          <p:cNvSpPr txBox="1"/>
          <p:nvPr/>
        </p:nvSpPr>
        <p:spPr>
          <a:xfrm>
            <a:off x="420000" y="437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RET-00004 7 years after claim close · Scheduled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Evidence / control health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CLEAN presence is not proof. Shared #14 evidence is reused.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Evidence refresh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Open gaps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Shared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Control plane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Closed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Malware fail-closed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GAP-00001 Open privacy-related gap: GAP-00001 500.07 is mapped to controls that are not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implemented. A gap is remaining work, not a legal conclusion.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87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GAP-00003 Open privacy-related gap: GAP-00003 A.15 is mapped to controls that are not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implemented. A gap is remaining work, not a legal conclusion.</a:t>
            </a:r>
          </a:p>
        </p:txBody>
      </p:sp>
      <p:sp>
        <p:nvSpPr>
          <p:cNvPr id="62" name="n62"/>
          <p:cNvSpPr txBox="1"/>
          <p:nvPr/>
        </p:nvSpPr>
        <p:spPr>
          <a:xfrm>
            <a:off x="420000" y="454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GAP-00002 Open privacy-related gap: GAP-00002 500.07 has no current CLEAN evidence. A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 is remaining work, not a legal conclusion.</a:t>
            </a:r>
          </a:p>
        </p:txBody>
      </p:sp>
      <p:sp>
        <p:nvSpPr>
          <p:cNvPr id="63" name="n63"/>
          <p:cNvSpPr txBox="1"/>
          <p:nvPr/>
        </p:nvSpPr>
        <p:spPr>
          <a:xfrm>
            <a:off x="420000" y="521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GAP-00004 Open privacy-related gap: GAP-00004 A.15 has no current CLEAN evidence. A gap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is remaining work, not a legal conclusion.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Key decisions required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Human-authoritative. Supreme does not issue legal conclusions.</a:t>
            </a:r>
          </a:p>
        </p:txBody>
      </p:sp>
      <p:sp>
        <p:nvSpPr>
          <p:cNvPr id="20" name="n20"/>
          <p:cNvSpPr txBox="1"/>
          <p:nvPr/>
        </p:nvSpPr>
        <p:spPr>
          <a:xfrm>
            <a:off x="420000" y="168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XFR-00001 Transfer requiring review — XFR-00001 US-NY → IE is recorded as review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required. This is not a lawfulness finding.</a:t>
            </a:r>
          </a:p>
        </p:txBody>
      </p:sp>
      <p:sp>
        <p:nvSpPr>
          <p:cNvPr id="21" name="n21"/>
          <p:cNvSpPr txBox="1"/>
          <p:nvPr/>
        </p:nvSpPr>
        <p:spPr>
          <a:xfrm>
            <a:off x="420000" y="236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XFR-00002 Transfer requiring review — XFR-00002 US-NY → IE is recorded as review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required. This is not a lawfulness finding.</a:t>
            </a:r>
          </a:p>
        </p:txBody>
      </p:sp>
      <p:sp>
        <p:nvSpPr>
          <p:cNvPr id="22" name="n22"/>
          <p:cNvSpPr txBox="1"/>
          <p:nvPr/>
        </p:nvSpPr>
        <p:spPr>
          <a:xfrm>
            <a:off x="420000" y="304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XFR-00003 Transfer requiring review — XFR-00003 US-NY → IE is recorded as review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required. This is not a lawfulness finding.</a:t>
            </a:r>
          </a:p>
        </p:txBody>
      </p:sp>
      <p:sp>
        <p:nvSpPr>
          <p:cNvPr id="23" name="n23"/>
          <p:cNvSpPr txBox="1"/>
          <p:nvPr/>
        </p:nvSpPr>
        <p:spPr>
          <a:xfrm>
            <a:off x="420000" y="372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XFR-00004 Transfer requiring review — XFR-00004 US-NY → IE is recorded as review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required. This is not a lawfulness finding.</a:t>
            </a:r>
          </a:p>
        </p:txBody>
      </p:sp>
      <p:sp>
        <p:nvSpPr>
          <p:cNvPr id="24" name="n24"/>
          <p:cNvSpPr txBox="1"/>
          <p:nvPr/>
        </p:nvSpPr>
        <p:spPr>
          <a:xfrm>
            <a:off x="420000" y="440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GAP-00001 Open privacy-related gap — GAP-00001 500.07 is mapped to controls that are not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implemented. A gap is remaining work, not a legal conclusion.</a:t>
            </a:r>
          </a:p>
        </p:txBody>
      </p:sp>
      <p:sp>
        <p:nvSpPr>
          <p:cNvPr id="25" name="n25"/>
          <p:cNvSpPr txBox="1"/>
          <p:nvPr/>
        </p:nvSpPr>
        <p:spPr>
          <a:xfrm>
            <a:off x="420000" y="508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GAP-00003 Open privacy-related gap — GAP-00003 A.15 is mapped to controls that are not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implemented. A gap is remaining work, not a legal conclusion.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Key decisions required · continued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Human-authoritative. Supreme does not issue legal conclusions.</a:t>
            </a:r>
          </a:p>
        </p:txBody>
      </p:sp>
      <p:sp>
        <p:nvSpPr>
          <p:cNvPr id="20" name="n20"/>
          <p:cNvSpPr txBox="1"/>
          <p:nvPr/>
        </p:nvSpPr>
        <p:spPr>
          <a:xfrm>
            <a:off x="420000" y="168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GAP-00002 Open privacy-related gap — GAP-00002 500.07 has no current CLEAN evidence. A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 is remaining work, not a legal conclusion.</a:t>
            </a:r>
          </a:p>
        </p:txBody>
      </p:sp>
      <p:sp>
        <p:nvSpPr>
          <p:cNvPr id="21" name="n21"/>
          <p:cNvSpPr txBox="1"/>
          <p:nvPr/>
        </p:nvSpPr>
        <p:spPr>
          <a:xfrm>
            <a:off x="420000" y="236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GAP-00004 Open privacy-related gap — GAP-00004 A.15 has no current CLEAN evidence. A gap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is remaining work, not a legal conclusion.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Priority actions / next 90 days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Taken from the live attention queue. No invented program.</a:t>
            </a:r>
          </a:p>
        </p:txBody>
      </p:sp>
      <p:sp>
        <p:nvSpPr>
          <p:cNvPr id="20" name="n20"/>
          <p:cNvSpPr txBox="1"/>
          <p:nvPr/>
        </p:nvSpPr>
        <p:spPr>
          <a:xfrm>
            <a:off x="420000" y="168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1. Review XFR-00001 — Transfer requiring review. XFR-00001 US-NY → IE is recorded as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review required. This is not a lawfulness finding.</a:t>
            </a:r>
          </a:p>
        </p:txBody>
      </p:sp>
      <p:sp>
        <p:nvSpPr>
          <p:cNvPr id="21" name="n21"/>
          <p:cNvSpPr txBox="1"/>
          <p:nvPr/>
        </p:nvSpPr>
        <p:spPr>
          <a:xfrm>
            <a:off x="420000" y="236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2. Review XFR-00002 — Transfer requiring review. XFR-00002 US-NY → IE is recorded as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review required. This is not a lawfulness finding.</a:t>
            </a:r>
          </a:p>
        </p:txBody>
      </p:sp>
      <p:sp>
        <p:nvSpPr>
          <p:cNvPr id="22" name="n22"/>
          <p:cNvSpPr txBox="1"/>
          <p:nvPr/>
        </p:nvSpPr>
        <p:spPr>
          <a:xfrm>
            <a:off x="420000" y="304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3. Review XFR-00003 — Transfer requiring review. XFR-00003 US-NY → IE is recorded as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review required. This is not a lawfulness finding.</a:t>
            </a:r>
          </a:p>
        </p:txBody>
      </p:sp>
      <p:sp>
        <p:nvSpPr>
          <p:cNvPr id="23" name="n23"/>
          <p:cNvSpPr txBox="1"/>
          <p:nvPr/>
        </p:nvSpPr>
        <p:spPr>
          <a:xfrm>
            <a:off x="420000" y="372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4. Review XFR-00004 — Transfer requiring review. XFR-00004 US-NY → IE is recorded as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review required. This is not a lawfulness finding.</a:t>
            </a:r>
          </a:p>
        </p:txBody>
      </p:sp>
      <p:sp>
        <p:nvSpPr>
          <p:cNvPr id="24" name="n24"/>
          <p:cNvSpPr txBox="1"/>
          <p:nvPr/>
        </p:nvSpPr>
        <p:spPr>
          <a:xfrm>
            <a:off x="420000" y="440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5. Review GAP-00001 — Open privacy-related gap. GAP-00001 500.07 is mapped to controls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that are not implemented. A gap is remaining work, not a legal conclusion.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Priority actions / next 90 days · continued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Taken from the live attention queue. No invented program.</a:t>
            </a:r>
          </a:p>
        </p:txBody>
      </p:sp>
      <p:sp>
        <p:nvSpPr>
          <p:cNvPr id="20" name="n20"/>
          <p:cNvSpPr txBox="1"/>
          <p:nvPr/>
        </p:nvSpPr>
        <p:spPr>
          <a:xfrm>
            <a:off x="420000" y="168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6. Review GAP-00003 — Open privacy-related gap. GAP-00003 A.15 is mapped to controls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that are not implemented. A gap is remaining work, not a legal conclusion.</a:t>
            </a:r>
          </a:p>
        </p:txBody>
      </p:sp>
      <p:sp>
        <p:nvSpPr>
          <p:cNvPr id="21" name="n21"/>
          <p:cNvSpPr txBox="1"/>
          <p:nvPr/>
        </p:nvSpPr>
        <p:spPr>
          <a:xfrm>
            <a:off x="420000" y="236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7. Review GAP-00002 — Open privacy-related gap. GAP-00002 500.07 has no current CLEAN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evidence. A gap is remaining work, not a legal conclusion.</a:t>
            </a:r>
          </a:p>
        </p:txBody>
      </p:sp>
      <p:sp>
        <p:nvSpPr>
          <p:cNvPr id="22" name="n22"/>
          <p:cNvSpPr txBox="1"/>
          <p:nvPr/>
        </p:nvSpPr>
        <p:spPr>
          <a:xfrm>
            <a:off x="420000" y="3040000"/>
            <a:ext cx="11300000" cy="61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8. Review GAP-00004 — Open privacy-related gap. GAP-00004 A.15 has no current CLEAN</a:t>
            </a:r>
          </a:p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evidence. A gap is remaining work, not a legal conclusion.</a:t>
            </a:r>
          </a:p>
        </p:txBody>
      </p:sp>
      <p:sp>
        <p:nvSpPr>
          <p:cNvPr id="80" name="t80"/>
          <p:cNvSpPr txBox="1"/>
          <p:nvPr/>
        </p:nvSpPr>
        <p:spPr>
          <a:xfrm>
            <a:off x="420000" y="5600000"/>
            <a:ext cx="11000000" cy="3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64748B"/>
                </a:solidFill>
                <a:latin typeface="Calibri" pitchFamily="34" charset="0"/>
              </a:rPr>
              <a:t xml:space="preserve">Consent collector remains not configured / manual. No trend available.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reme Board">
  <a:themeElements>
    <a:clrScheme name="Supr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C5A46E"/>
      </a:accent1>
      <a:accent2>
        <a:srgbClr val="334155"/>
      </a:accent2>
      <a:accent3>
        <a:srgbClr val="475569"/>
      </a:accent3>
      <a:accent4>
        <a:srgbClr val="94A3B8"/>
      </a:accent4>
      <a:accent5>
        <a:srgbClr val="CBD5E1"/>
      </a:accent5>
      <a:accent6>
        <a:srgbClr val="E2E8F0"/>
      </a:accent6>
      <a:hlink>
        <a:srgbClr val="2563EB"/>
      </a:hlink>
      <a:folHlink>
        <a:srgbClr val="7C3AED"/>
      </a:folHlink>
    </a:clrScheme>
    <a:fontScheme name="Suprem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upr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atMod val="600000"/>
              </a:schemeClr>
            </a:gs>
            <a:gs pos="100000">
              <a:schemeClr val="phClr">
                <a:shade val="100000"/>
                <a:satMod val="20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>
                <a:tint val="93000"/>
              </a:schemeClr>
            </a:gs>
            <a:gs pos="100000">
              <a:schemeClr val="phClr">
                <a:shade val="91000"/>
              </a:schemeClr>
            </a:gs>
          </a:gsLst>
          <a:lin ang="5400000" scaled="0"/>
        </a:gradFill>
      </a:bgFillStyleLst>
    </a:fmtScheme>
  </a:themeElements>
</a:theme>
</file>